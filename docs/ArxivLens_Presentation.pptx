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w="12700">
            <a:solidFill>
              <a:srgbClr val="0D1B3E"/>
            </a:solidFill>
            <a:prstDash val="solid"/>
          </a:ln>
        </p:spPr>
      </p:sp>
      <p:sp>
        <p:nvSpPr>
          <p:cNvPr id="3" name="Shape 1"/>
          <p:cNvSpPr/>
          <p:nvPr/>
        </p:nvSpPr>
        <p:spPr>
          <a:xfrm>
            <a:off x="0" y="0"/>
            <a:ext cx="12188952" cy="91440"/>
          </a:xfrm>
          <a:prstGeom prst="rect">
            <a:avLst/>
          </a:prstGeom>
          <a:solidFill>
            <a:srgbClr val="4A90D9"/>
          </a:solidFill>
          <a:ln w="12700">
            <a:solidFill>
              <a:srgbClr val="4A90D9"/>
            </a:solidFill>
            <a:prstDash val="solid"/>
          </a:ln>
        </p:spPr>
      </p:sp>
      <p:sp>
        <p:nvSpPr>
          <p:cNvPr id="4" name="Shape 2"/>
          <p:cNvSpPr/>
          <p:nvPr/>
        </p:nvSpPr>
        <p:spPr>
          <a:xfrm>
            <a:off x="0" y="6766560"/>
            <a:ext cx="12188952" cy="91440"/>
          </a:xfrm>
          <a:prstGeom prst="rect">
            <a:avLst/>
          </a:prstGeom>
          <a:solidFill>
            <a:srgbClr val="4A90D9"/>
          </a:solidFill>
          <a:ln w="12700">
            <a:solidFill>
              <a:srgbClr val="4A90D9"/>
            </a:solidFill>
            <a:prstDash val="solid"/>
          </a:ln>
        </p:spPr>
      </p:sp>
      <p:sp>
        <p:nvSpPr>
          <p:cNvPr id="5" name="Text 3"/>
          <p:cNvSpPr/>
          <p:nvPr/>
        </p:nvSpPr>
        <p:spPr>
          <a:xfrm>
            <a:off x="0" y="1463040"/>
            <a:ext cx="12188952" cy="1463040"/>
          </a:xfrm>
          <a:prstGeom prst="rect">
            <a:avLst/>
          </a:prstGeom>
          <a:noFill/>
          <a:ln/>
        </p:spPr>
        <p:txBody>
          <a:bodyPr wrap="square" rtlCol="0" anchor="ctr"/>
          <a:lstStyle/>
          <a:p>
            <a:pPr algn="ctr" indent="0" marL="0">
              <a:buNone/>
            </a:pPr>
            <a:r>
              <a:rPr lang="en-US" sz="6800" b="1" dirty="0">
                <a:solidFill>
                  <a:srgbClr val="FFFFFF"/>
                </a:solidFill>
                <a:latin typeface="Calibri" pitchFamily="34" charset="0"/>
                <a:ea typeface="Calibri" pitchFamily="34" charset="-122"/>
                <a:cs typeface="Calibri" pitchFamily="34" charset="-120"/>
              </a:rPr>
              <a:t>ArxivLens</a:t>
            </a:r>
            <a:endParaRPr lang="en-US" sz="6800" dirty="0"/>
          </a:p>
        </p:txBody>
      </p:sp>
      <p:sp>
        <p:nvSpPr>
          <p:cNvPr id="6" name="Shape 4"/>
          <p:cNvSpPr/>
          <p:nvPr/>
        </p:nvSpPr>
        <p:spPr>
          <a:xfrm>
            <a:off x="3717036" y="2926080"/>
            <a:ext cx="4754880" cy="64008"/>
          </a:xfrm>
          <a:prstGeom prst="rect">
            <a:avLst/>
          </a:prstGeom>
          <a:solidFill>
            <a:srgbClr val="4A90D9"/>
          </a:solidFill>
          <a:ln w="12700">
            <a:solidFill>
              <a:srgbClr val="4A90D9"/>
            </a:solidFill>
            <a:prstDash val="solid"/>
          </a:ln>
        </p:spPr>
      </p:sp>
      <p:sp>
        <p:nvSpPr>
          <p:cNvPr id="7" name="Text 5"/>
          <p:cNvSpPr/>
          <p:nvPr/>
        </p:nvSpPr>
        <p:spPr>
          <a:xfrm>
            <a:off x="1371600" y="3063240"/>
            <a:ext cx="9445752" cy="685800"/>
          </a:xfrm>
          <a:prstGeom prst="rect">
            <a:avLst/>
          </a:prstGeom>
          <a:noFill/>
          <a:ln/>
        </p:spPr>
        <p:txBody>
          <a:bodyPr wrap="square" rtlCol="0" anchor="ctr"/>
          <a:lstStyle/>
          <a:p>
            <a:pPr algn="ctr" indent="0" marL="0">
              <a:buNone/>
            </a:pPr>
            <a:r>
              <a:rPr lang="en-US" sz="1700" i="1" dirty="0">
                <a:solidFill>
                  <a:srgbClr val="CADCFC"/>
                </a:solidFill>
                <a:latin typeface="Calibri" pitchFamily="34" charset="0"/>
                <a:ea typeface="Calibri" pitchFamily="34" charset="-122"/>
                <a:cs typeface="Calibri" pitchFamily="34" charset="-120"/>
              </a:rPr>
              <a:t>A Mobile Research Companion for Academic Paper Discovery and Citation Export</a:t>
            </a:r>
            <a:endParaRPr lang="en-US" sz="1700" dirty="0"/>
          </a:p>
        </p:txBody>
      </p:sp>
      <p:sp>
        <p:nvSpPr>
          <p:cNvPr id="8" name="Text 6"/>
          <p:cNvSpPr/>
          <p:nvPr/>
        </p:nvSpPr>
        <p:spPr>
          <a:xfrm>
            <a:off x="0" y="3977640"/>
            <a:ext cx="12188952" cy="41148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Team: </a:t>
            </a:r>
            <a:pPr algn="ctr" indent="0" marL="0">
              <a:buNone/>
            </a:pPr>
            <a:r>
              <a:rPr lang="en-US" sz="1500" dirty="0">
                <a:solidFill>
                  <a:srgbClr val="FFFFFF"/>
                </a:solidFill>
                <a:latin typeface="Calibri" pitchFamily="34" charset="0"/>
                <a:ea typeface="Calibri" pitchFamily="34" charset="-122"/>
                <a:cs typeface="Calibri" pitchFamily="34" charset="-120"/>
              </a:rPr>
              <a:t>Pavan Chauhan</a:t>
            </a:r>
            <a:endParaRPr lang="en-US" sz="1500" dirty="0"/>
          </a:p>
        </p:txBody>
      </p:sp>
      <p:sp>
        <p:nvSpPr>
          <p:cNvPr id="9" name="Text 7"/>
          <p:cNvSpPr/>
          <p:nvPr/>
        </p:nvSpPr>
        <p:spPr>
          <a:xfrm>
            <a:off x="0" y="4434840"/>
            <a:ext cx="12188952" cy="41148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Course: </a:t>
            </a:r>
            <a:pPr algn="ctr" indent="0" marL="0">
              <a:buNone/>
            </a:pPr>
            <a:r>
              <a:rPr lang="en-US" sz="1500" dirty="0">
                <a:solidFill>
                  <a:srgbClr val="FFFFFF"/>
                </a:solidFill>
                <a:latin typeface="Calibri" pitchFamily="34" charset="0"/>
                <a:ea typeface="Calibri" pitchFamily="34" charset="-122"/>
                <a:cs typeface="Calibri" pitchFamily="34" charset="-120"/>
              </a:rPr>
              <a:t>CS5035 — Topics in Functional Programming, Spring 2026</a:t>
            </a:r>
            <a:endParaRPr lang="en-US" sz="1500" dirty="0"/>
          </a:p>
        </p:txBody>
      </p:sp>
      <p:sp>
        <p:nvSpPr>
          <p:cNvPr id="10" name="Text 8"/>
          <p:cNvSpPr/>
          <p:nvPr/>
        </p:nvSpPr>
        <p:spPr>
          <a:xfrm>
            <a:off x="0" y="4892040"/>
            <a:ext cx="12188952" cy="41148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Instructor: </a:t>
            </a:r>
            <a:pPr algn="ctr" indent="0" marL="0">
              <a:buNone/>
            </a:pPr>
            <a:r>
              <a:rPr lang="en-US" sz="1500" dirty="0">
                <a:solidFill>
                  <a:srgbClr val="FFFFFF"/>
                </a:solidFill>
                <a:latin typeface="Calibri" pitchFamily="34" charset="0"/>
                <a:ea typeface="Calibri" pitchFamily="34" charset="-122"/>
                <a:cs typeface="Calibri" pitchFamily="34" charset="-120"/>
              </a:rPr>
              <a:t>Armando Beltran  |  CalStateLA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Project Overview: The Problem</a:t>
            </a:r>
            <a:endParaRPr lang="en-US" sz="2500" dirty="0"/>
          </a:p>
        </p:txBody>
      </p:sp>
      <p:sp>
        <p:nvSpPr>
          <p:cNvPr id="6" name="Shape 4"/>
          <p:cNvSpPr/>
          <p:nvPr/>
        </p:nvSpPr>
        <p:spPr>
          <a:xfrm>
            <a:off x="411480" y="960120"/>
            <a:ext cx="3611880" cy="3108960"/>
          </a:xfrm>
          <a:prstGeom prst="rect">
            <a:avLst/>
          </a:prstGeom>
          <a:solidFill>
            <a:srgbClr val="FFFFFF"/>
          </a:solidFill>
          <a:ln w="12700">
            <a:solidFill>
              <a:srgbClr val="4A90D9"/>
            </a:solidFill>
            <a:prstDash val="solid"/>
          </a:ln>
        </p:spPr>
      </p:sp>
      <p:sp>
        <p:nvSpPr>
          <p:cNvPr id="7" name="Shape 5"/>
          <p:cNvSpPr/>
          <p:nvPr/>
        </p:nvSpPr>
        <p:spPr>
          <a:xfrm>
            <a:off x="411480" y="960120"/>
            <a:ext cx="3611880" cy="64008"/>
          </a:xfrm>
          <a:prstGeom prst="rect">
            <a:avLst/>
          </a:prstGeom>
          <a:solidFill>
            <a:srgbClr val="4A90D9"/>
          </a:solidFill>
          <a:ln w="12700">
            <a:solidFill>
              <a:srgbClr val="4A90D9"/>
            </a:solidFill>
            <a:prstDash val="solid"/>
          </a:ln>
        </p:spPr>
      </p:sp>
      <p:sp>
        <p:nvSpPr>
          <p:cNvPr id="8" name="Text 6"/>
          <p:cNvSpPr/>
          <p:nvPr/>
        </p:nvSpPr>
        <p:spPr>
          <a:xfrm>
            <a:off x="411480" y="1069848"/>
            <a:ext cx="3611880" cy="658368"/>
          </a:xfrm>
          <a:prstGeom prst="rect">
            <a:avLst/>
          </a:prstGeom>
          <a:noFill/>
          <a:ln/>
        </p:spPr>
        <p:txBody>
          <a:bodyPr wrap="square" rtlCol="0" anchor="ctr"/>
          <a:lstStyle/>
          <a:p>
            <a:pPr algn="ctr" indent="0" marL="0">
              <a:buNone/>
            </a:pPr>
            <a:r>
              <a:rPr lang="en-US" sz="3600" b="1" dirty="0">
                <a:solidFill>
                  <a:srgbClr val="CADCFC"/>
                </a:solidFill>
                <a:latin typeface="Calibri" pitchFamily="34" charset="0"/>
                <a:ea typeface="Calibri" pitchFamily="34" charset="-122"/>
                <a:cs typeface="Calibri" pitchFamily="34" charset="-120"/>
              </a:rPr>
              <a:t>01</a:t>
            </a:r>
            <a:endParaRPr lang="en-US" sz="3600" dirty="0"/>
          </a:p>
        </p:txBody>
      </p:sp>
      <p:sp>
        <p:nvSpPr>
          <p:cNvPr id="9" name="Shape 7"/>
          <p:cNvSpPr/>
          <p:nvPr/>
        </p:nvSpPr>
        <p:spPr>
          <a:xfrm>
            <a:off x="685800" y="1764792"/>
            <a:ext cx="3063240" cy="27432"/>
          </a:xfrm>
          <a:prstGeom prst="rect">
            <a:avLst/>
          </a:prstGeom>
          <a:solidFill>
            <a:srgbClr val="CADCFC"/>
          </a:solidFill>
          <a:ln w="12700">
            <a:solidFill>
              <a:srgbClr val="CADCFC"/>
            </a:solidFill>
            <a:prstDash val="solid"/>
          </a:ln>
        </p:spPr>
      </p:sp>
      <p:sp>
        <p:nvSpPr>
          <p:cNvPr id="10" name="Text 8"/>
          <p:cNvSpPr/>
          <p:nvPr/>
        </p:nvSpPr>
        <p:spPr>
          <a:xfrm>
            <a:off x="548640" y="1837944"/>
            <a:ext cx="3337560" cy="384048"/>
          </a:xfrm>
          <a:prstGeom prst="rect">
            <a:avLst/>
          </a:prstGeom>
          <a:noFill/>
          <a:ln/>
        </p:spPr>
        <p:txBody>
          <a:bodyPr wrap="square" rtlCol="0" anchor="ctr"/>
          <a:lstStyle/>
          <a:p>
            <a:pPr algn="ctr" indent="0" marL="0">
              <a:buNone/>
            </a:pPr>
            <a:r>
              <a:rPr lang="en-US" sz="1500" b="1" dirty="0">
                <a:solidFill>
                  <a:srgbClr val="1A2B5C"/>
                </a:solidFill>
                <a:latin typeface="Calibri" pitchFamily="34" charset="0"/>
                <a:ea typeface="Calibri" pitchFamily="34" charset="-122"/>
                <a:cs typeface="Calibri" pitchFamily="34" charset="-120"/>
              </a:rPr>
              <a:t>Tab Overload</a:t>
            </a:r>
            <a:endParaRPr lang="en-US" sz="1500" dirty="0"/>
          </a:p>
        </p:txBody>
      </p:sp>
      <p:sp>
        <p:nvSpPr>
          <p:cNvPr id="11" name="Text 9"/>
          <p:cNvSpPr/>
          <p:nvPr/>
        </p:nvSpPr>
        <p:spPr>
          <a:xfrm>
            <a:off x="576072" y="2258568"/>
            <a:ext cx="3282696" cy="171907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Students open dozens of arXiv tabs during a literature review and quickly lose track of what they read or why they saved it.</a:t>
            </a:r>
            <a:endParaRPr lang="en-US" sz="1300" dirty="0"/>
          </a:p>
        </p:txBody>
      </p:sp>
      <p:sp>
        <p:nvSpPr>
          <p:cNvPr id="12" name="Shape 10"/>
          <p:cNvSpPr/>
          <p:nvPr/>
        </p:nvSpPr>
        <p:spPr>
          <a:xfrm>
            <a:off x="4242816" y="960120"/>
            <a:ext cx="3611880" cy="3108960"/>
          </a:xfrm>
          <a:prstGeom prst="rect">
            <a:avLst/>
          </a:prstGeom>
          <a:solidFill>
            <a:srgbClr val="FFFFFF"/>
          </a:solidFill>
          <a:ln w="12700">
            <a:solidFill>
              <a:srgbClr val="4A90D9"/>
            </a:solidFill>
            <a:prstDash val="solid"/>
          </a:ln>
        </p:spPr>
      </p:sp>
      <p:sp>
        <p:nvSpPr>
          <p:cNvPr id="13" name="Shape 11"/>
          <p:cNvSpPr/>
          <p:nvPr/>
        </p:nvSpPr>
        <p:spPr>
          <a:xfrm>
            <a:off x="4242816" y="960120"/>
            <a:ext cx="3611880" cy="64008"/>
          </a:xfrm>
          <a:prstGeom prst="rect">
            <a:avLst/>
          </a:prstGeom>
          <a:solidFill>
            <a:srgbClr val="4A90D9"/>
          </a:solidFill>
          <a:ln w="12700">
            <a:solidFill>
              <a:srgbClr val="4A90D9"/>
            </a:solidFill>
            <a:prstDash val="solid"/>
          </a:ln>
        </p:spPr>
      </p:sp>
      <p:sp>
        <p:nvSpPr>
          <p:cNvPr id="14" name="Text 12"/>
          <p:cNvSpPr/>
          <p:nvPr/>
        </p:nvSpPr>
        <p:spPr>
          <a:xfrm>
            <a:off x="4242816" y="1069848"/>
            <a:ext cx="3611880" cy="658368"/>
          </a:xfrm>
          <a:prstGeom prst="rect">
            <a:avLst/>
          </a:prstGeom>
          <a:noFill/>
          <a:ln/>
        </p:spPr>
        <p:txBody>
          <a:bodyPr wrap="square" rtlCol="0" anchor="ctr"/>
          <a:lstStyle/>
          <a:p>
            <a:pPr algn="ctr" indent="0" marL="0">
              <a:buNone/>
            </a:pPr>
            <a:r>
              <a:rPr lang="en-US" sz="3600" b="1" dirty="0">
                <a:solidFill>
                  <a:srgbClr val="CADCFC"/>
                </a:solidFill>
                <a:latin typeface="Calibri" pitchFamily="34" charset="0"/>
                <a:ea typeface="Calibri" pitchFamily="34" charset="-122"/>
                <a:cs typeface="Calibri" pitchFamily="34" charset="-120"/>
              </a:rPr>
              <a:t>02</a:t>
            </a:r>
            <a:endParaRPr lang="en-US" sz="3600" dirty="0"/>
          </a:p>
        </p:txBody>
      </p:sp>
      <p:sp>
        <p:nvSpPr>
          <p:cNvPr id="15" name="Shape 13"/>
          <p:cNvSpPr/>
          <p:nvPr/>
        </p:nvSpPr>
        <p:spPr>
          <a:xfrm>
            <a:off x="4517136" y="1764792"/>
            <a:ext cx="3063240" cy="27432"/>
          </a:xfrm>
          <a:prstGeom prst="rect">
            <a:avLst/>
          </a:prstGeom>
          <a:solidFill>
            <a:srgbClr val="CADCFC"/>
          </a:solidFill>
          <a:ln w="12700">
            <a:solidFill>
              <a:srgbClr val="CADCFC"/>
            </a:solidFill>
            <a:prstDash val="solid"/>
          </a:ln>
        </p:spPr>
      </p:sp>
      <p:sp>
        <p:nvSpPr>
          <p:cNvPr id="16" name="Text 14"/>
          <p:cNvSpPr/>
          <p:nvPr/>
        </p:nvSpPr>
        <p:spPr>
          <a:xfrm>
            <a:off x="4379976" y="1837944"/>
            <a:ext cx="3337560" cy="384048"/>
          </a:xfrm>
          <a:prstGeom prst="rect">
            <a:avLst/>
          </a:prstGeom>
          <a:noFill/>
          <a:ln/>
        </p:spPr>
        <p:txBody>
          <a:bodyPr wrap="square" rtlCol="0" anchor="ctr"/>
          <a:lstStyle/>
          <a:p>
            <a:pPr algn="ctr" indent="0" marL="0">
              <a:buNone/>
            </a:pPr>
            <a:r>
              <a:rPr lang="en-US" sz="1500" b="1" dirty="0">
                <a:solidFill>
                  <a:srgbClr val="1A2B5C"/>
                </a:solidFill>
                <a:latin typeface="Calibri" pitchFamily="34" charset="0"/>
                <a:ea typeface="Calibri" pitchFamily="34" charset="-122"/>
                <a:cs typeface="Calibri" pitchFamily="34" charset="-120"/>
              </a:rPr>
              <a:t>Manual Bookmarking</a:t>
            </a:r>
            <a:endParaRPr lang="en-US" sz="1500" dirty="0"/>
          </a:p>
        </p:txBody>
      </p:sp>
      <p:sp>
        <p:nvSpPr>
          <p:cNvPr id="17" name="Text 15"/>
          <p:cNvSpPr/>
          <p:nvPr/>
        </p:nvSpPr>
        <p:spPr>
          <a:xfrm>
            <a:off x="4407408" y="2258568"/>
            <a:ext cx="3282696" cy="171907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Papers land in notes apps or browser bookmarks — no structure, no abstracts, and no way to filter by topic or date.</a:t>
            </a:r>
            <a:endParaRPr lang="en-US" sz="1300" dirty="0"/>
          </a:p>
        </p:txBody>
      </p:sp>
      <p:sp>
        <p:nvSpPr>
          <p:cNvPr id="18" name="Shape 16"/>
          <p:cNvSpPr/>
          <p:nvPr/>
        </p:nvSpPr>
        <p:spPr>
          <a:xfrm>
            <a:off x="8074152" y="960120"/>
            <a:ext cx="3611880" cy="3108960"/>
          </a:xfrm>
          <a:prstGeom prst="rect">
            <a:avLst/>
          </a:prstGeom>
          <a:solidFill>
            <a:srgbClr val="FFFFFF"/>
          </a:solidFill>
          <a:ln w="12700">
            <a:solidFill>
              <a:srgbClr val="4A90D9"/>
            </a:solidFill>
            <a:prstDash val="solid"/>
          </a:ln>
        </p:spPr>
      </p:sp>
      <p:sp>
        <p:nvSpPr>
          <p:cNvPr id="19" name="Shape 17"/>
          <p:cNvSpPr/>
          <p:nvPr/>
        </p:nvSpPr>
        <p:spPr>
          <a:xfrm>
            <a:off x="8074152" y="960120"/>
            <a:ext cx="3611880" cy="64008"/>
          </a:xfrm>
          <a:prstGeom prst="rect">
            <a:avLst/>
          </a:prstGeom>
          <a:solidFill>
            <a:srgbClr val="4A90D9"/>
          </a:solidFill>
          <a:ln w="12700">
            <a:solidFill>
              <a:srgbClr val="4A90D9"/>
            </a:solidFill>
            <a:prstDash val="solid"/>
          </a:ln>
        </p:spPr>
      </p:sp>
      <p:sp>
        <p:nvSpPr>
          <p:cNvPr id="20" name="Text 18"/>
          <p:cNvSpPr/>
          <p:nvPr/>
        </p:nvSpPr>
        <p:spPr>
          <a:xfrm>
            <a:off x="8074152" y="1069848"/>
            <a:ext cx="3611880" cy="658368"/>
          </a:xfrm>
          <a:prstGeom prst="rect">
            <a:avLst/>
          </a:prstGeom>
          <a:noFill/>
          <a:ln/>
        </p:spPr>
        <p:txBody>
          <a:bodyPr wrap="square" rtlCol="0" anchor="ctr"/>
          <a:lstStyle/>
          <a:p>
            <a:pPr algn="ctr" indent="0" marL="0">
              <a:buNone/>
            </a:pPr>
            <a:r>
              <a:rPr lang="en-US" sz="3600" b="1" dirty="0">
                <a:solidFill>
                  <a:srgbClr val="CADCFC"/>
                </a:solidFill>
                <a:latin typeface="Calibri" pitchFamily="34" charset="0"/>
                <a:ea typeface="Calibri" pitchFamily="34" charset="-122"/>
                <a:cs typeface="Calibri" pitchFamily="34" charset="-120"/>
              </a:rPr>
              <a:t>03</a:t>
            </a:r>
            <a:endParaRPr lang="en-US" sz="3600" dirty="0"/>
          </a:p>
        </p:txBody>
      </p:sp>
      <p:sp>
        <p:nvSpPr>
          <p:cNvPr id="21" name="Shape 19"/>
          <p:cNvSpPr/>
          <p:nvPr/>
        </p:nvSpPr>
        <p:spPr>
          <a:xfrm>
            <a:off x="8348472" y="1764792"/>
            <a:ext cx="3063240" cy="27432"/>
          </a:xfrm>
          <a:prstGeom prst="rect">
            <a:avLst/>
          </a:prstGeom>
          <a:solidFill>
            <a:srgbClr val="CADCFC"/>
          </a:solidFill>
          <a:ln w="12700">
            <a:solidFill>
              <a:srgbClr val="CADCFC"/>
            </a:solidFill>
            <a:prstDash val="solid"/>
          </a:ln>
        </p:spPr>
      </p:sp>
      <p:sp>
        <p:nvSpPr>
          <p:cNvPr id="22" name="Text 20"/>
          <p:cNvSpPr/>
          <p:nvPr/>
        </p:nvSpPr>
        <p:spPr>
          <a:xfrm>
            <a:off x="8211312" y="1837944"/>
            <a:ext cx="3337560" cy="384048"/>
          </a:xfrm>
          <a:prstGeom prst="rect">
            <a:avLst/>
          </a:prstGeom>
          <a:noFill/>
          <a:ln/>
        </p:spPr>
        <p:txBody>
          <a:bodyPr wrap="square" rtlCol="0" anchor="ctr"/>
          <a:lstStyle/>
          <a:p>
            <a:pPr algn="ctr" indent="0" marL="0">
              <a:buNone/>
            </a:pPr>
            <a:r>
              <a:rPr lang="en-US" sz="1500" b="1" dirty="0">
                <a:solidFill>
                  <a:srgbClr val="1A2B5C"/>
                </a:solidFill>
                <a:latin typeface="Calibri" pitchFamily="34" charset="0"/>
                <a:ea typeface="Calibri" pitchFamily="34" charset="-122"/>
                <a:cs typeface="Calibri" pitchFamily="34" charset="-120"/>
              </a:rPr>
              <a:t>BibTeX by Hand</a:t>
            </a:r>
            <a:endParaRPr lang="en-US" sz="1500" dirty="0"/>
          </a:p>
        </p:txBody>
      </p:sp>
      <p:sp>
        <p:nvSpPr>
          <p:cNvPr id="23" name="Text 21"/>
          <p:cNvSpPr/>
          <p:nvPr/>
        </p:nvSpPr>
        <p:spPr>
          <a:xfrm>
            <a:off x="8238744" y="2258568"/>
            <a:ext cx="3282696" cy="171907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Every citation must be rebuilt manually for LaTeX / Overleaf: copy author names, year, arXiv ID — error-prone and slow.</a:t>
            </a:r>
            <a:endParaRPr lang="en-US" sz="1300" dirty="0"/>
          </a:p>
        </p:txBody>
      </p:sp>
      <p:sp>
        <p:nvSpPr>
          <p:cNvPr id="24" name="Shape 22"/>
          <p:cNvSpPr/>
          <p:nvPr/>
        </p:nvSpPr>
        <p:spPr>
          <a:xfrm>
            <a:off x="411480" y="4270248"/>
            <a:ext cx="11365992" cy="960120"/>
          </a:xfrm>
          <a:prstGeom prst="rect">
            <a:avLst/>
          </a:prstGeom>
          <a:solidFill>
            <a:srgbClr val="1A2B5C"/>
          </a:solidFill>
          <a:ln w="12700">
            <a:solidFill>
              <a:srgbClr val="1A2B5C"/>
            </a:solidFill>
            <a:prstDash val="solid"/>
          </a:ln>
        </p:spPr>
      </p:sp>
      <p:sp>
        <p:nvSpPr>
          <p:cNvPr id="25" name="Shape 23"/>
          <p:cNvSpPr/>
          <p:nvPr/>
        </p:nvSpPr>
        <p:spPr>
          <a:xfrm>
            <a:off x="411480" y="4270248"/>
            <a:ext cx="82296" cy="960120"/>
          </a:xfrm>
          <a:prstGeom prst="rect">
            <a:avLst/>
          </a:prstGeom>
          <a:solidFill>
            <a:srgbClr val="4A90D9"/>
          </a:solidFill>
          <a:ln w="12700">
            <a:solidFill>
              <a:srgbClr val="4A90D9"/>
            </a:solidFill>
            <a:prstDash val="solid"/>
          </a:ln>
        </p:spPr>
      </p:sp>
      <p:sp>
        <p:nvSpPr>
          <p:cNvPr id="26" name="Text 24"/>
          <p:cNvSpPr/>
          <p:nvPr/>
        </p:nvSpPr>
        <p:spPr>
          <a:xfrm>
            <a:off x="658368" y="4270248"/>
            <a:ext cx="11091672" cy="96012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There is no lightweight, mobile-first tool that covers the full loop:</a:t>
            </a:r>
            <a:endParaRPr lang="en-US" sz="1400" dirty="0"/>
          </a:p>
          <a:p>
            <a:pPr indent="0" marL="0">
              <a:buNone/>
            </a:pPr>
            <a:r>
              <a:rPr lang="en-US" sz="1400" i="1" dirty="0">
                <a:solidFill>
                  <a:srgbClr val="FFFFFF"/>
                </a:solidFill>
                <a:latin typeface="Calibri" pitchFamily="34" charset="0"/>
                <a:ea typeface="Calibri" pitchFamily="34" charset="-122"/>
                <a:cs typeface="Calibri" pitchFamily="34" charset="-120"/>
              </a:rPr>
              <a:t>search → read → save → export BibTeX — all offline, no sign-in.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Project Overview: Who It's For</a:t>
            </a:r>
            <a:endParaRPr lang="en-US" sz="2500" dirty="0"/>
          </a:p>
        </p:txBody>
      </p:sp>
      <p:sp>
        <p:nvSpPr>
          <p:cNvPr id="6" name="Shape 4"/>
          <p:cNvSpPr/>
          <p:nvPr/>
        </p:nvSpPr>
        <p:spPr>
          <a:xfrm>
            <a:off x="411480" y="960120"/>
            <a:ext cx="5591556" cy="5733288"/>
          </a:xfrm>
          <a:prstGeom prst="rect">
            <a:avLst/>
          </a:prstGeom>
          <a:solidFill>
            <a:srgbClr val="FFFFFF"/>
          </a:solidFill>
          <a:ln w="12700">
            <a:solidFill>
              <a:srgbClr val="4A90D9"/>
            </a:solidFill>
            <a:prstDash val="solid"/>
          </a:ln>
        </p:spPr>
      </p:sp>
      <p:sp>
        <p:nvSpPr>
          <p:cNvPr id="7" name="Text 5"/>
          <p:cNvSpPr/>
          <p:nvPr/>
        </p:nvSpPr>
        <p:spPr>
          <a:xfrm>
            <a:off x="594360" y="1097280"/>
            <a:ext cx="5317236" cy="384048"/>
          </a:xfrm>
          <a:prstGeom prst="rect">
            <a:avLst/>
          </a:prstGeom>
          <a:noFill/>
          <a:ln/>
        </p:spPr>
        <p:txBody>
          <a:bodyPr wrap="square" rtlCol="0" anchor="ctr"/>
          <a:lstStyle/>
          <a:p>
            <a:pPr indent="0" marL="0">
              <a:buNone/>
            </a:pPr>
            <a:r>
              <a:rPr lang="en-US" sz="1700" b="1" dirty="0">
                <a:solidFill>
                  <a:srgbClr val="1A2B5C"/>
                </a:solidFill>
                <a:latin typeface="Calibri" pitchFamily="34" charset="0"/>
                <a:ea typeface="Calibri" pitchFamily="34" charset="-122"/>
                <a:cs typeface="Calibri" pitchFamily="34" charset="-120"/>
              </a:rPr>
              <a:t>Target Users</a:t>
            </a:r>
            <a:endParaRPr lang="en-US" sz="1700" dirty="0"/>
          </a:p>
        </p:txBody>
      </p:sp>
      <p:sp>
        <p:nvSpPr>
          <p:cNvPr id="8" name="Shape 6"/>
          <p:cNvSpPr/>
          <p:nvPr/>
        </p:nvSpPr>
        <p:spPr>
          <a:xfrm>
            <a:off x="594360" y="1664208"/>
            <a:ext cx="292608" cy="292608"/>
          </a:xfrm>
          <a:prstGeom prst="ellipse">
            <a:avLst/>
          </a:prstGeom>
          <a:solidFill>
            <a:srgbClr val="4A90D9"/>
          </a:solidFill>
          <a:ln w="12700">
            <a:solidFill>
              <a:srgbClr val="4A90D9"/>
            </a:solidFill>
            <a:prstDash val="solid"/>
          </a:ln>
        </p:spPr>
      </p:sp>
      <p:sp>
        <p:nvSpPr>
          <p:cNvPr id="9" name="Text 7"/>
          <p:cNvSpPr/>
          <p:nvPr/>
        </p:nvSpPr>
        <p:spPr>
          <a:xfrm>
            <a:off x="594360" y="166420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005840" y="1618488"/>
            <a:ext cx="4905756" cy="1371600"/>
          </a:xfrm>
          <a:prstGeom prst="rect">
            <a:avLst/>
          </a:prstGeom>
          <a:noFill/>
          <a:ln/>
        </p:spPr>
        <p:txBody>
          <a:bodyPr wrap="square" rtlCol="0" anchor="t"/>
          <a:lstStyle/>
          <a:p>
            <a:pPr indent="0" marL="0">
              <a:buNone/>
            </a:pPr>
            <a:r>
              <a:rPr lang="en-US" sz="1400" dirty="0">
                <a:solidFill>
                  <a:srgbClr val="1A1A2E"/>
                </a:solidFill>
                <a:latin typeface="Calibri" pitchFamily="34" charset="0"/>
                <a:ea typeface="Calibri" pitchFamily="34" charset="-122"/>
                <a:cs typeface="Calibri" pitchFamily="34" charset="-120"/>
              </a:rPr>
              <a:t>CS students writing course papers with literature review sections</a:t>
            </a:r>
            <a:endParaRPr lang="en-US" sz="1400" dirty="0"/>
          </a:p>
        </p:txBody>
      </p:sp>
      <p:sp>
        <p:nvSpPr>
          <p:cNvPr id="11" name="Shape 9"/>
          <p:cNvSpPr/>
          <p:nvPr/>
        </p:nvSpPr>
        <p:spPr>
          <a:xfrm>
            <a:off x="594360" y="3218688"/>
            <a:ext cx="292608" cy="292608"/>
          </a:xfrm>
          <a:prstGeom prst="ellipse">
            <a:avLst/>
          </a:prstGeom>
          <a:solidFill>
            <a:srgbClr val="4A90D9"/>
          </a:solidFill>
          <a:ln w="12700">
            <a:solidFill>
              <a:srgbClr val="4A90D9"/>
            </a:solidFill>
            <a:prstDash val="solid"/>
          </a:ln>
        </p:spPr>
      </p:sp>
      <p:sp>
        <p:nvSpPr>
          <p:cNvPr id="12" name="Text 10"/>
          <p:cNvSpPr/>
          <p:nvPr/>
        </p:nvSpPr>
        <p:spPr>
          <a:xfrm>
            <a:off x="594360" y="321868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005840" y="3172968"/>
            <a:ext cx="4905756" cy="1371600"/>
          </a:xfrm>
          <a:prstGeom prst="rect">
            <a:avLst/>
          </a:prstGeom>
          <a:noFill/>
          <a:ln/>
        </p:spPr>
        <p:txBody>
          <a:bodyPr wrap="square" rtlCol="0" anchor="t"/>
          <a:lstStyle/>
          <a:p>
            <a:pPr indent="0" marL="0">
              <a:buNone/>
            </a:pPr>
            <a:r>
              <a:rPr lang="en-US" sz="1400" dirty="0">
                <a:solidFill>
                  <a:srgbClr val="1A1A2E"/>
                </a:solidFill>
                <a:latin typeface="Calibri" pitchFamily="34" charset="0"/>
                <a:ea typeface="Calibri" pitchFamily="34" charset="-122"/>
                <a:cs typeface="Calibri" pitchFamily="34" charset="-120"/>
              </a:rPr>
              <a:t>Graduate researchers tracking papers across multiple topics</a:t>
            </a:r>
            <a:endParaRPr lang="en-US" sz="1400" dirty="0"/>
          </a:p>
        </p:txBody>
      </p:sp>
      <p:sp>
        <p:nvSpPr>
          <p:cNvPr id="14" name="Shape 12"/>
          <p:cNvSpPr/>
          <p:nvPr/>
        </p:nvSpPr>
        <p:spPr>
          <a:xfrm>
            <a:off x="594360" y="4773168"/>
            <a:ext cx="292608" cy="292608"/>
          </a:xfrm>
          <a:prstGeom prst="ellipse">
            <a:avLst/>
          </a:prstGeom>
          <a:solidFill>
            <a:srgbClr val="4A90D9"/>
          </a:solidFill>
          <a:ln w="12700">
            <a:solidFill>
              <a:srgbClr val="4A90D9"/>
            </a:solidFill>
            <a:prstDash val="solid"/>
          </a:ln>
        </p:spPr>
      </p:sp>
      <p:sp>
        <p:nvSpPr>
          <p:cNvPr id="15" name="Text 13"/>
          <p:cNvSpPr/>
          <p:nvPr/>
        </p:nvSpPr>
        <p:spPr>
          <a:xfrm>
            <a:off x="594360" y="477316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05840" y="4727448"/>
            <a:ext cx="4905756" cy="1371600"/>
          </a:xfrm>
          <a:prstGeom prst="rect">
            <a:avLst/>
          </a:prstGeom>
          <a:noFill/>
          <a:ln/>
        </p:spPr>
        <p:txBody>
          <a:bodyPr wrap="square" rtlCol="0" anchor="t"/>
          <a:lstStyle/>
          <a:p>
            <a:pPr indent="0" marL="0">
              <a:buNone/>
            </a:pPr>
            <a:r>
              <a:rPr lang="en-US" sz="1400" dirty="0">
                <a:solidFill>
                  <a:srgbClr val="1A1A2E"/>
                </a:solidFill>
                <a:latin typeface="Calibri" pitchFamily="34" charset="0"/>
                <a:ea typeface="Calibri" pitchFamily="34" charset="-122"/>
                <a:cs typeface="Calibri" pitchFamily="34" charset="-120"/>
              </a:rPr>
              <a:t>Anyone using Overleaf / LaTeX who needs a portable .bib file</a:t>
            </a:r>
            <a:endParaRPr lang="en-US" sz="1400" dirty="0"/>
          </a:p>
        </p:txBody>
      </p:sp>
      <p:sp>
        <p:nvSpPr>
          <p:cNvPr id="17" name="Shape 15"/>
          <p:cNvSpPr/>
          <p:nvPr/>
        </p:nvSpPr>
        <p:spPr>
          <a:xfrm>
            <a:off x="6185916" y="960120"/>
            <a:ext cx="5591556" cy="5733288"/>
          </a:xfrm>
          <a:prstGeom prst="rect">
            <a:avLst/>
          </a:prstGeom>
          <a:solidFill>
            <a:srgbClr val="FFFFFF"/>
          </a:solidFill>
          <a:ln w="12700">
            <a:solidFill>
              <a:srgbClr val="1A2B5C"/>
            </a:solidFill>
            <a:prstDash val="solid"/>
          </a:ln>
        </p:spPr>
      </p:sp>
      <p:sp>
        <p:nvSpPr>
          <p:cNvPr id="18" name="Text 16"/>
          <p:cNvSpPr/>
          <p:nvPr/>
        </p:nvSpPr>
        <p:spPr>
          <a:xfrm>
            <a:off x="6368796" y="1097280"/>
            <a:ext cx="5317236" cy="384048"/>
          </a:xfrm>
          <a:prstGeom prst="rect">
            <a:avLst/>
          </a:prstGeom>
          <a:noFill/>
          <a:ln/>
        </p:spPr>
        <p:txBody>
          <a:bodyPr wrap="square" rtlCol="0" anchor="ctr"/>
          <a:lstStyle/>
          <a:p>
            <a:pPr indent="0" marL="0">
              <a:buNone/>
            </a:pPr>
            <a:r>
              <a:rPr lang="en-US" sz="1700" b="1" dirty="0">
                <a:solidFill>
                  <a:srgbClr val="1A2B5C"/>
                </a:solidFill>
                <a:latin typeface="Calibri" pitchFamily="34" charset="0"/>
                <a:ea typeface="Calibri" pitchFamily="34" charset="-122"/>
                <a:cs typeface="Calibri" pitchFamily="34" charset="-120"/>
              </a:rPr>
              <a:t>Why It Matters</a:t>
            </a:r>
            <a:endParaRPr lang="en-US" sz="1700" dirty="0"/>
          </a:p>
        </p:txBody>
      </p:sp>
      <p:sp>
        <p:nvSpPr>
          <p:cNvPr id="19" name="Text 17"/>
          <p:cNvSpPr/>
          <p:nvPr/>
        </p:nvSpPr>
        <p:spPr>
          <a:xfrm>
            <a:off x="6368796" y="1554480"/>
            <a:ext cx="5317236" cy="292608"/>
          </a:xfrm>
          <a:prstGeom prst="rect">
            <a:avLst/>
          </a:prstGeom>
          <a:noFill/>
          <a:ln/>
        </p:spPr>
        <p:txBody>
          <a:bodyPr wrap="square" rtlCol="0" anchor="ctr"/>
          <a:lstStyle/>
          <a:p>
            <a:pPr indent="0" marL="0">
              <a:buNone/>
            </a:pPr>
            <a:r>
              <a:rPr lang="en-US" sz="1300" i="1" dirty="0">
                <a:solidFill>
                  <a:srgbClr val="1A1A2E"/>
                </a:solidFill>
                <a:latin typeface="Calibri" pitchFamily="34" charset="0"/>
                <a:ea typeface="Calibri" pitchFamily="34" charset="-122"/>
                <a:cs typeface="Calibri" pitchFamily="34" charset="-120"/>
              </a:rPr>
              <a:t>A typical literature review involves:</a:t>
            </a:r>
            <a:endParaRPr lang="en-US" sz="1300" dirty="0"/>
          </a:p>
        </p:txBody>
      </p:sp>
      <p:sp>
        <p:nvSpPr>
          <p:cNvPr id="20" name="Text 18"/>
          <p:cNvSpPr/>
          <p:nvPr/>
        </p:nvSpPr>
        <p:spPr>
          <a:xfrm>
            <a:off x="6368796" y="1965960"/>
            <a:ext cx="5317236" cy="594360"/>
          </a:xfrm>
          <a:prstGeom prst="rect">
            <a:avLst/>
          </a:prstGeom>
          <a:noFill/>
          <a:ln/>
        </p:spPr>
        <p:txBody>
          <a:bodyPr wrap="square" rtlCol="0" anchor="ctr"/>
          <a:lstStyle/>
          <a:p>
            <a:pPr algn="ctr" indent="0" marL="0">
              <a:buNone/>
            </a:pPr>
            <a:r>
              <a:rPr lang="en-US" sz="4000" b="1" dirty="0">
                <a:solidFill>
                  <a:srgbClr val="4A90D9"/>
                </a:solidFill>
                <a:latin typeface="Calibri" pitchFamily="34" charset="0"/>
                <a:ea typeface="Calibri" pitchFamily="34" charset="-122"/>
                <a:cs typeface="Calibri" pitchFamily="34" charset="-120"/>
              </a:rPr>
              <a:t>10–30</a:t>
            </a:r>
            <a:endParaRPr lang="en-US" sz="4000" dirty="0"/>
          </a:p>
        </p:txBody>
      </p:sp>
      <p:sp>
        <p:nvSpPr>
          <p:cNvPr id="21" name="Text 19"/>
          <p:cNvSpPr/>
          <p:nvPr/>
        </p:nvSpPr>
        <p:spPr>
          <a:xfrm>
            <a:off x="6368796" y="2560320"/>
            <a:ext cx="5317236" cy="320040"/>
          </a:xfrm>
          <a:prstGeom prst="rect">
            <a:avLst/>
          </a:prstGeom>
          <a:noFill/>
          <a:ln/>
        </p:spPr>
        <p:txBody>
          <a:bodyPr wrap="square" rtlCol="0" anchor="ctr"/>
          <a:lstStyle/>
          <a:p>
            <a:pPr algn="ctr" indent="0" marL="0">
              <a:buNone/>
            </a:pPr>
            <a:r>
              <a:rPr lang="en-US" sz="1300" dirty="0">
                <a:solidFill>
                  <a:srgbClr val="5A6A8A"/>
                </a:solidFill>
                <a:latin typeface="Calibri" pitchFamily="34" charset="0"/>
                <a:ea typeface="Calibri" pitchFamily="34" charset="-122"/>
                <a:cs typeface="Calibri" pitchFamily="34" charset="-120"/>
              </a:rPr>
              <a:t>papers per search session</a:t>
            </a:r>
            <a:endParaRPr lang="en-US" sz="1300" dirty="0"/>
          </a:p>
        </p:txBody>
      </p:sp>
      <p:sp>
        <p:nvSpPr>
          <p:cNvPr id="22" name="Text 20"/>
          <p:cNvSpPr/>
          <p:nvPr/>
        </p:nvSpPr>
        <p:spPr>
          <a:xfrm>
            <a:off x="6368796" y="3520440"/>
            <a:ext cx="5317236" cy="594360"/>
          </a:xfrm>
          <a:prstGeom prst="rect">
            <a:avLst/>
          </a:prstGeom>
          <a:noFill/>
          <a:ln/>
        </p:spPr>
        <p:txBody>
          <a:bodyPr wrap="square" rtlCol="0" anchor="ctr"/>
          <a:lstStyle/>
          <a:p>
            <a:pPr algn="ctr" indent="0" marL="0">
              <a:buNone/>
            </a:pPr>
            <a:r>
              <a:rPr lang="en-US" sz="4000" b="1" dirty="0">
                <a:solidFill>
                  <a:srgbClr val="4A90D9"/>
                </a:solidFill>
                <a:latin typeface="Calibri" pitchFamily="34" charset="0"/>
                <a:ea typeface="Calibri" pitchFamily="34" charset="-122"/>
                <a:cs typeface="Calibri" pitchFamily="34" charset="-120"/>
              </a:rPr>
              <a:t>Hours</a:t>
            </a:r>
            <a:endParaRPr lang="en-US" sz="4000" dirty="0"/>
          </a:p>
        </p:txBody>
      </p:sp>
      <p:sp>
        <p:nvSpPr>
          <p:cNvPr id="23" name="Text 21"/>
          <p:cNvSpPr/>
          <p:nvPr/>
        </p:nvSpPr>
        <p:spPr>
          <a:xfrm>
            <a:off x="6368796" y="4114800"/>
            <a:ext cx="5317236" cy="320040"/>
          </a:xfrm>
          <a:prstGeom prst="rect">
            <a:avLst/>
          </a:prstGeom>
          <a:noFill/>
          <a:ln/>
        </p:spPr>
        <p:txBody>
          <a:bodyPr wrap="square" rtlCol="0" anchor="ctr"/>
          <a:lstStyle/>
          <a:p>
            <a:pPr algn="ctr" indent="0" marL="0">
              <a:buNone/>
            </a:pPr>
            <a:r>
              <a:rPr lang="en-US" sz="1300" dirty="0">
                <a:solidFill>
                  <a:srgbClr val="5A6A8A"/>
                </a:solidFill>
                <a:latin typeface="Calibri" pitchFamily="34" charset="0"/>
                <a:ea typeface="Calibri" pitchFamily="34" charset="-122"/>
                <a:cs typeface="Calibri" pitchFamily="34" charset="-120"/>
              </a:rPr>
              <a:t>spent manually building BibTeX</a:t>
            </a:r>
            <a:endParaRPr lang="en-US" sz="1300" dirty="0"/>
          </a:p>
        </p:txBody>
      </p:sp>
      <p:sp>
        <p:nvSpPr>
          <p:cNvPr id="24" name="Text 22"/>
          <p:cNvSpPr/>
          <p:nvPr/>
        </p:nvSpPr>
        <p:spPr>
          <a:xfrm>
            <a:off x="6368796" y="5074920"/>
            <a:ext cx="5317236" cy="594360"/>
          </a:xfrm>
          <a:prstGeom prst="rect">
            <a:avLst/>
          </a:prstGeom>
          <a:noFill/>
          <a:ln/>
        </p:spPr>
        <p:txBody>
          <a:bodyPr wrap="square" rtlCol="0" anchor="ctr"/>
          <a:lstStyle/>
          <a:p>
            <a:pPr algn="ctr" indent="0" marL="0">
              <a:buNone/>
            </a:pPr>
            <a:r>
              <a:rPr lang="en-US" sz="4000" b="1" dirty="0">
                <a:solidFill>
                  <a:srgbClr val="4A90D9"/>
                </a:solidFill>
                <a:latin typeface="Calibri" pitchFamily="34" charset="0"/>
                <a:ea typeface="Calibri" pitchFamily="34" charset="-122"/>
                <a:cs typeface="Calibri" pitchFamily="34" charset="-120"/>
              </a:rPr>
              <a:t>1 Tap</a:t>
            </a:r>
            <a:endParaRPr lang="en-US" sz="4000" dirty="0"/>
          </a:p>
        </p:txBody>
      </p:sp>
      <p:sp>
        <p:nvSpPr>
          <p:cNvPr id="25" name="Text 23"/>
          <p:cNvSpPr/>
          <p:nvPr/>
        </p:nvSpPr>
        <p:spPr>
          <a:xfrm>
            <a:off x="6368796" y="5669280"/>
            <a:ext cx="5317236" cy="320040"/>
          </a:xfrm>
          <a:prstGeom prst="rect">
            <a:avLst/>
          </a:prstGeom>
          <a:noFill/>
          <a:ln/>
        </p:spPr>
        <p:txBody>
          <a:bodyPr wrap="square" rtlCol="0" anchor="ctr"/>
          <a:lstStyle/>
          <a:p>
            <a:pPr algn="ctr" indent="0" marL="0">
              <a:buNone/>
            </a:pPr>
            <a:r>
              <a:rPr lang="en-US" sz="1300" dirty="0">
                <a:solidFill>
                  <a:srgbClr val="5A6A8A"/>
                </a:solidFill>
                <a:latin typeface="Calibri" pitchFamily="34" charset="0"/>
                <a:ea typeface="Calibri" pitchFamily="34" charset="-122"/>
                <a:cs typeface="Calibri" pitchFamily="34" charset="-120"/>
              </a:rPr>
              <a:t>to export with ArxivLens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Your Approach: Tech Stack &amp; API</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6858000" cy="5733288"/>
        </p:xfrm>
        <a:graphic>
          <a:graphicData uri="http://schemas.openxmlformats.org/drawingml/2006/table">
            <a:tbl>
              <a:tblPr/>
              <a:tblGrid>
                <a:gridCol w="2286000"/>
                <a:gridCol w="4572000"/>
              </a:tblGrid>
              <a:tr h="6126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A2B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Technology</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A2B5C"/>
                    </a:solidFill>
                  </a:tcPr>
                </a:tc>
              </a:tr>
              <a:tr h="61264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UI</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Jetpack Compose + Material 3</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1264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Navigation</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Navigation Compose (NavController)</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1264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ViewModel + Kotlin Coroutines + StateFlow</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1264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Database</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Room (SQLite) + KSP code generation</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1264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Networking</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OkHttp (HTTP client)</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1264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Data Parsing</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Android XmlPullParser — Atom feed</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1264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File Sharing</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Android FileProvider + Share Intent</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bl>
          </a:graphicData>
        </a:graphic>
      </p:graphicFrame>
      <p:sp>
        <p:nvSpPr>
          <p:cNvPr id="7" name="Shape 4"/>
          <p:cNvSpPr/>
          <p:nvPr/>
        </p:nvSpPr>
        <p:spPr>
          <a:xfrm>
            <a:off x="7589520" y="960120"/>
            <a:ext cx="4279392" cy="5733288"/>
          </a:xfrm>
          <a:prstGeom prst="rect">
            <a:avLst/>
          </a:prstGeom>
          <a:solidFill>
            <a:srgbClr val="1E2D40"/>
          </a:solidFill>
          <a:ln w="12700">
            <a:solidFill>
              <a:srgbClr val="4A90D9"/>
            </a:solidFill>
            <a:prstDash val="solid"/>
          </a:ln>
        </p:spPr>
      </p:sp>
      <p:sp>
        <p:nvSpPr>
          <p:cNvPr id="8" name="Text 5"/>
          <p:cNvSpPr/>
          <p:nvPr/>
        </p:nvSpPr>
        <p:spPr>
          <a:xfrm>
            <a:off x="7772400" y="1069848"/>
            <a:ext cx="4050792" cy="457200"/>
          </a:xfrm>
          <a:prstGeom prst="rect">
            <a:avLst/>
          </a:prstGeom>
          <a:noFill/>
          <a:ln/>
        </p:spPr>
        <p:txBody>
          <a:bodyPr wrap="square" rtlCol="0" anchor="ctr"/>
          <a:lstStyle/>
          <a:p>
            <a:pPr indent="0" marL="0">
              <a:buNone/>
            </a:pPr>
            <a:r>
              <a:rPr lang="en-US" sz="1800" b="1" dirty="0">
                <a:solidFill>
                  <a:srgbClr val="4A90D9"/>
                </a:solidFill>
                <a:latin typeface="Calibri" pitchFamily="34" charset="0"/>
                <a:ea typeface="Calibri" pitchFamily="34" charset="-122"/>
                <a:cs typeface="Calibri" pitchFamily="34" charset="-120"/>
              </a:rPr>
              <a:t>arXiv Atom API</a:t>
            </a:r>
            <a:endParaRPr lang="en-US" sz="1800" dirty="0"/>
          </a:p>
        </p:txBody>
      </p:sp>
      <p:sp>
        <p:nvSpPr>
          <p:cNvPr id="9" name="Text 6"/>
          <p:cNvSpPr/>
          <p:nvPr/>
        </p:nvSpPr>
        <p:spPr>
          <a:xfrm>
            <a:off x="7772400" y="1618488"/>
            <a:ext cx="4096512" cy="4983480"/>
          </a:xfrm>
          <a:prstGeom prst="rect">
            <a:avLst/>
          </a:prstGeom>
          <a:noFill/>
          <a:ln/>
        </p:spPr>
        <p:txBody>
          <a:bodyPr wrap="square" rtlCol="0" anchor="t"/>
          <a:lstStyle/>
          <a:p>
            <a:pPr indent="0" marL="0">
              <a:buNone/>
            </a:pPr>
            <a:r>
              <a:rPr lang="en-US" sz="1200" dirty="0">
                <a:solidFill>
                  <a:srgbClr val="D4E6FF"/>
                </a:solidFill>
                <a:latin typeface="Courier New" pitchFamily="34" charset="0"/>
                <a:ea typeface="Courier New" pitchFamily="34" charset="-122"/>
                <a:cs typeface="Courier New" pitchFamily="34" charset="-120"/>
              </a:rPr>
              <a:t>Free · public · no auth required</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Real-time metadata</a:t>
            </a:r>
            <a:endParaRPr lang="en-US" sz="1200" dirty="0"/>
          </a:p>
          <a:p>
            <a:pPr indent="0" marL="0">
              <a:buNone/>
            </a:pP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Endpoint:</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https://export.arxiv.org/api/</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query?search_query=all:...</a:t>
            </a:r>
            <a:endParaRPr lang="en-US" sz="1200" dirty="0"/>
          </a:p>
          <a:p>
            <a:pPr indent="0" marL="0">
              <a:buNone/>
            </a:pP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Returns:</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title, authors, abstract</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categories, arXiv ID</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PDF link, DOI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Your Approach: MVVM Architecture</a:t>
            </a:r>
            <a:endParaRPr lang="en-US" sz="2500" dirty="0"/>
          </a:p>
        </p:txBody>
      </p:sp>
      <p:sp>
        <p:nvSpPr>
          <p:cNvPr id="6" name="Shape 4"/>
          <p:cNvSpPr/>
          <p:nvPr/>
        </p:nvSpPr>
        <p:spPr>
          <a:xfrm>
            <a:off x="411480" y="1152144"/>
            <a:ext cx="7772400" cy="1188720"/>
          </a:xfrm>
          <a:prstGeom prst="rect">
            <a:avLst/>
          </a:prstGeom>
          <a:solidFill>
            <a:srgbClr val="2563EB"/>
          </a:solidFill>
          <a:ln w="12700">
            <a:solidFill>
              <a:srgbClr val="2563EB"/>
            </a:solidFill>
            <a:prstDash val="solid"/>
          </a:ln>
        </p:spPr>
      </p:sp>
      <p:sp>
        <p:nvSpPr>
          <p:cNvPr id="7" name="Shape 5"/>
          <p:cNvSpPr/>
          <p:nvPr/>
        </p:nvSpPr>
        <p:spPr>
          <a:xfrm>
            <a:off x="411480" y="1152144"/>
            <a:ext cx="73152" cy="1188720"/>
          </a:xfrm>
          <a:prstGeom prst="rect">
            <a:avLst/>
          </a:prstGeom>
          <a:solidFill>
            <a:srgbClr val="4A90D9"/>
          </a:solidFill>
          <a:ln w="12700">
            <a:solidFill>
              <a:srgbClr val="4A90D9"/>
            </a:solidFill>
            <a:prstDash val="solid"/>
          </a:ln>
        </p:spPr>
      </p:sp>
      <p:sp>
        <p:nvSpPr>
          <p:cNvPr id="8" name="Text 6"/>
          <p:cNvSpPr/>
          <p:nvPr/>
        </p:nvSpPr>
        <p:spPr>
          <a:xfrm>
            <a:off x="594360" y="1243584"/>
            <a:ext cx="749808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UI Layer (Compose Screens)</a:t>
            </a:r>
            <a:endParaRPr lang="en-US" sz="1600" dirty="0"/>
          </a:p>
        </p:txBody>
      </p:sp>
      <p:sp>
        <p:nvSpPr>
          <p:cNvPr id="9" name="Text 7"/>
          <p:cNvSpPr/>
          <p:nvPr/>
        </p:nvSpPr>
        <p:spPr>
          <a:xfrm>
            <a:off x="594360" y="1682496"/>
            <a:ext cx="7498080" cy="566928"/>
          </a:xfrm>
          <a:prstGeom prst="rect">
            <a:avLst/>
          </a:prstGeom>
          <a:noFill/>
          <a:ln/>
        </p:spPr>
        <p:txBody>
          <a:bodyPr wrap="square" rtlCol="0" anchor="t"/>
          <a:lstStyle/>
          <a:p>
            <a:pPr indent="0" marL="0">
              <a:buNone/>
            </a:pPr>
            <a:r>
              <a:rPr lang="en-US" sz="1300" dirty="0">
                <a:solidFill>
                  <a:srgbClr val="CADCFC"/>
                </a:solidFill>
                <a:latin typeface="Calibri" pitchFamily="34" charset="0"/>
                <a:ea typeface="Calibri" pitchFamily="34" charset="-122"/>
                <a:cs typeface="Calibri" pitchFamily="34" charset="-120"/>
              </a:rPr>
              <a:t>Observes StateFlow — never reads DB or network directly</a:t>
            </a:r>
            <a:endParaRPr lang="en-US" sz="1300" dirty="0"/>
          </a:p>
        </p:txBody>
      </p:sp>
      <p:sp>
        <p:nvSpPr>
          <p:cNvPr id="10" name="Text 8"/>
          <p:cNvSpPr/>
          <p:nvPr/>
        </p:nvSpPr>
        <p:spPr>
          <a:xfrm>
            <a:off x="4114800" y="2340864"/>
            <a:ext cx="365760" cy="228600"/>
          </a:xfrm>
          <a:prstGeom prst="rect">
            <a:avLst/>
          </a:prstGeom>
          <a:noFill/>
          <a:ln/>
        </p:spPr>
        <p:txBody>
          <a:bodyPr wrap="square" rtlCol="0" anchor="ctr"/>
          <a:lstStyle/>
          <a:p>
            <a:pPr algn="ctr" indent="0" marL="0">
              <a:buNone/>
            </a:pPr>
            <a:r>
              <a:rPr lang="en-US" sz="1600" dirty="0">
                <a:solidFill>
                  <a:srgbClr val="4A90D9"/>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411480" y="2569464"/>
            <a:ext cx="7772400" cy="1188720"/>
          </a:xfrm>
          <a:prstGeom prst="rect">
            <a:avLst/>
          </a:prstGeom>
          <a:solidFill>
            <a:srgbClr val="1D4ED8"/>
          </a:solidFill>
          <a:ln w="12700">
            <a:solidFill>
              <a:srgbClr val="1D4ED8"/>
            </a:solidFill>
            <a:prstDash val="solid"/>
          </a:ln>
        </p:spPr>
      </p:sp>
      <p:sp>
        <p:nvSpPr>
          <p:cNvPr id="12" name="Shape 10"/>
          <p:cNvSpPr/>
          <p:nvPr/>
        </p:nvSpPr>
        <p:spPr>
          <a:xfrm>
            <a:off x="411480" y="2569464"/>
            <a:ext cx="73152" cy="1188720"/>
          </a:xfrm>
          <a:prstGeom prst="rect">
            <a:avLst/>
          </a:prstGeom>
          <a:solidFill>
            <a:srgbClr val="4A90D9"/>
          </a:solidFill>
          <a:ln w="12700">
            <a:solidFill>
              <a:srgbClr val="4A90D9"/>
            </a:solidFill>
            <a:prstDash val="solid"/>
          </a:ln>
        </p:spPr>
      </p:sp>
      <p:sp>
        <p:nvSpPr>
          <p:cNvPr id="13" name="Text 11"/>
          <p:cNvSpPr/>
          <p:nvPr/>
        </p:nvSpPr>
        <p:spPr>
          <a:xfrm>
            <a:off x="594360" y="2660904"/>
            <a:ext cx="749808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ViewModel Layer</a:t>
            </a:r>
            <a:endParaRPr lang="en-US" sz="1600" dirty="0"/>
          </a:p>
        </p:txBody>
      </p:sp>
      <p:sp>
        <p:nvSpPr>
          <p:cNvPr id="14" name="Text 12"/>
          <p:cNvSpPr/>
          <p:nvPr/>
        </p:nvSpPr>
        <p:spPr>
          <a:xfrm>
            <a:off x="594360" y="3099816"/>
            <a:ext cx="7498080" cy="566928"/>
          </a:xfrm>
          <a:prstGeom prst="rect">
            <a:avLst/>
          </a:prstGeom>
          <a:noFill/>
          <a:ln/>
        </p:spPr>
        <p:txBody>
          <a:bodyPr wrap="square" rtlCol="0" anchor="t"/>
          <a:lstStyle/>
          <a:p>
            <a:pPr indent="0" marL="0">
              <a:buNone/>
            </a:pPr>
            <a:r>
              <a:rPr lang="en-US" sz="1300" dirty="0">
                <a:solidFill>
                  <a:srgbClr val="CADCFC"/>
                </a:solidFill>
                <a:latin typeface="Calibri" pitchFamily="34" charset="0"/>
                <a:ea typeface="Calibri" pitchFamily="34" charset="-122"/>
                <a:cs typeface="Calibri" pitchFamily="34" charset="-120"/>
              </a:rPr>
              <a:t>Holds state, handles user actions, launches coroutines on viewModelScope</a:t>
            </a:r>
            <a:endParaRPr lang="en-US" sz="1300" dirty="0"/>
          </a:p>
        </p:txBody>
      </p:sp>
      <p:sp>
        <p:nvSpPr>
          <p:cNvPr id="15" name="Text 13"/>
          <p:cNvSpPr/>
          <p:nvPr/>
        </p:nvSpPr>
        <p:spPr>
          <a:xfrm>
            <a:off x="4114800" y="3758184"/>
            <a:ext cx="365760" cy="228600"/>
          </a:xfrm>
          <a:prstGeom prst="rect">
            <a:avLst/>
          </a:prstGeom>
          <a:noFill/>
          <a:ln/>
        </p:spPr>
        <p:txBody>
          <a:bodyPr wrap="square" rtlCol="0" anchor="ctr"/>
          <a:lstStyle/>
          <a:p>
            <a:pPr algn="ctr" indent="0" marL="0">
              <a:buNone/>
            </a:pPr>
            <a:r>
              <a:rPr lang="en-US" sz="1600" dirty="0">
                <a:solidFill>
                  <a:srgbClr val="4A90D9"/>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411480" y="3986784"/>
            <a:ext cx="7772400" cy="1188720"/>
          </a:xfrm>
          <a:prstGeom prst="rect">
            <a:avLst/>
          </a:prstGeom>
          <a:solidFill>
            <a:srgbClr val="1E40AF"/>
          </a:solidFill>
          <a:ln w="12700">
            <a:solidFill>
              <a:srgbClr val="1E40AF"/>
            </a:solidFill>
            <a:prstDash val="solid"/>
          </a:ln>
        </p:spPr>
      </p:sp>
      <p:sp>
        <p:nvSpPr>
          <p:cNvPr id="17" name="Shape 15"/>
          <p:cNvSpPr/>
          <p:nvPr/>
        </p:nvSpPr>
        <p:spPr>
          <a:xfrm>
            <a:off x="411480" y="3986784"/>
            <a:ext cx="73152" cy="1188720"/>
          </a:xfrm>
          <a:prstGeom prst="rect">
            <a:avLst/>
          </a:prstGeom>
          <a:solidFill>
            <a:srgbClr val="4A90D9"/>
          </a:solidFill>
          <a:ln w="12700">
            <a:solidFill>
              <a:srgbClr val="4A90D9"/>
            </a:solidFill>
            <a:prstDash val="solid"/>
          </a:ln>
        </p:spPr>
      </p:sp>
      <p:sp>
        <p:nvSpPr>
          <p:cNvPr id="18" name="Text 16"/>
          <p:cNvSpPr/>
          <p:nvPr/>
        </p:nvSpPr>
        <p:spPr>
          <a:xfrm>
            <a:off x="594360" y="4078224"/>
            <a:ext cx="749808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Repository (single data source)</a:t>
            </a:r>
            <a:endParaRPr lang="en-US" sz="1600" dirty="0"/>
          </a:p>
        </p:txBody>
      </p:sp>
      <p:sp>
        <p:nvSpPr>
          <p:cNvPr id="19" name="Text 17"/>
          <p:cNvSpPr/>
          <p:nvPr/>
        </p:nvSpPr>
        <p:spPr>
          <a:xfrm>
            <a:off x="594360" y="4517136"/>
            <a:ext cx="7498080" cy="566928"/>
          </a:xfrm>
          <a:prstGeom prst="rect">
            <a:avLst/>
          </a:prstGeom>
          <a:noFill/>
          <a:ln/>
        </p:spPr>
        <p:txBody>
          <a:bodyPr wrap="square" rtlCol="0" anchor="t"/>
          <a:lstStyle/>
          <a:p>
            <a:pPr indent="0" marL="0">
              <a:buNone/>
            </a:pPr>
            <a:r>
              <a:rPr lang="en-US" sz="1300" dirty="0">
                <a:solidFill>
                  <a:srgbClr val="CADCFC"/>
                </a:solidFill>
                <a:latin typeface="Calibri" pitchFamily="34" charset="0"/>
                <a:ea typeface="Calibri" pitchFamily="34" charset="-122"/>
                <a:cs typeface="Calibri" pitchFamily="34" charset="-120"/>
              </a:rPr>
              <a:t>Wraps Room DAOs, exposes Flow&lt;T&gt;, coordinates local &amp; remote data</a:t>
            </a:r>
            <a:endParaRPr lang="en-US" sz="1300" dirty="0"/>
          </a:p>
        </p:txBody>
      </p:sp>
      <p:sp>
        <p:nvSpPr>
          <p:cNvPr id="20" name="Text 18"/>
          <p:cNvSpPr/>
          <p:nvPr/>
        </p:nvSpPr>
        <p:spPr>
          <a:xfrm>
            <a:off x="4114800" y="5175504"/>
            <a:ext cx="365760" cy="228600"/>
          </a:xfrm>
          <a:prstGeom prst="rect">
            <a:avLst/>
          </a:prstGeom>
          <a:noFill/>
          <a:ln/>
        </p:spPr>
        <p:txBody>
          <a:bodyPr wrap="square" rtlCol="0" anchor="ctr"/>
          <a:lstStyle/>
          <a:p>
            <a:pPr algn="ctr" indent="0" marL="0">
              <a:buNone/>
            </a:pPr>
            <a:r>
              <a:rPr lang="en-US" sz="1600" dirty="0">
                <a:solidFill>
                  <a:srgbClr val="4A90D9"/>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411480" y="5404104"/>
            <a:ext cx="3817620" cy="1097280"/>
          </a:xfrm>
          <a:prstGeom prst="rect">
            <a:avLst/>
          </a:prstGeom>
          <a:solidFill>
            <a:srgbClr val="0369A1"/>
          </a:solidFill>
          <a:ln w="12700">
            <a:solidFill>
              <a:srgbClr val="0369A1"/>
            </a:solidFill>
            <a:prstDash val="solid"/>
          </a:ln>
        </p:spPr>
      </p:sp>
      <p:sp>
        <p:nvSpPr>
          <p:cNvPr id="22" name="Text 20"/>
          <p:cNvSpPr/>
          <p:nvPr/>
        </p:nvSpPr>
        <p:spPr>
          <a:xfrm>
            <a:off x="502920" y="5404104"/>
            <a:ext cx="3634740" cy="10972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Room DAOs</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(local SQLite)</a:t>
            </a:r>
            <a:endParaRPr lang="en-US" sz="1400" dirty="0"/>
          </a:p>
        </p:txBody>
      </p:sp>
      <p:sp>
        <p:nvSpPr>
          <p:cNvPr id="23" name="Shape 21"/>
          <p:cNvSpPr/>
          <p:nvPr/>
        </p:nvSpPr>
        <p:spPr>
          <a:xfrm>
            <a:off x="4366260" y="5404104"/>
            <a:ext cx="3817620" cy="1097280"/>
          </a:xfrm>
          <a:prstGeom prst="rect">
            <a:avLst/>
          </a:prstGeom>
          <a:solidFill>
            <a:srgbClr val="0369A1"/>
          </a:solidFill>
          <a:ln w="12700">
            <a:solidFill>
              <a:srgbClr val="0369A1"/>
            </a:solidFill>
            <a:prstDash val="solid"/>
          </a:ln>
        </p:spPr>
      </p:sp>
      <p:sp>
        <p:nvSpPr>
          <p:cNvPr id="24" name="Text 22"/>
          <p:cNvSpPr/>
          <p:nvPr/>
        </p:nvSpPr>
        <p:spPr>
          <a:xfrm>
            <a:off x="4457700" y="5404104"/>
            <a:ext cx="3634740" cy="10972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arXiv API + XML Parser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(pure fn — no Android)</a:t>
            </a:r>
            <a:endParaRPr lang="en-US" sz="1400" dirty="0"/>
          </a:p>
        </p:txBody>
      </p:sp>
      <p:sp>
        <p:nvSpPr>
          <p:cNvPr id="25" name="Shape 23"/>
          <p:cNvSpPr/>
          <p:nvPr/>
        </p:nvSpPr>
        <p:spPr>
          <a:xfrm>
            <a:off x="8458200" y="960120"/>
            <a:ext cx="3456432" cy="5733288"/>
          </a:xfrm>
          <a:prstGeom prst="rect">
            <a:avLst/>
          </a:prstGeom>
          <a:solidFill>
            <a:srgbClr val="FFFFFF"/>
          </a:solidFill>
          <a:ln w="12700">
            <a:solidFill>
              <a:srgbClr val="CADCFC"/>
            </a:solidFill>
            <a:prstDash val="solid"/>
          </a:ln>
        </p:spPr>
      </p:sp>
      <p:sp>
        <p:nvSpPr>
          <p:cNvPr id="26" name="Text 24"/>
          <p:cNvSpPr/>
          <p:nvPr/>
        </p:nvSpPr>
        <p:spPr>
          <a:xfrm>
            <a:off x="8641080" y="1097280"/>
            <a:ext cx="3182112" cy="365760"/>
          </a:xfrm>
          <a:prstGeom prst="rect">
            <a:avLst/>
          </a:prstGeom>
          <a:noFill/>
          <a:ln/>
        </p:spPr>
        <p:txBody>
          <a:bodyPr wrap="square" rtlCol="0" anchor="ctr"/>
          <a:lstStyle/>
          <a:p>
            <a:pPr indent="0" marL="0">
              <a:buNone/>
            </a:pPr>
            <a:r>
              <a:rPr lang="en-US" sz="1600" b="1" dirty="0">
                <a:solidFill>
                  <a:srgbClr val="1A2B5C"/>
                </a:solidFill>
                <a:latin typeface="Calibri" pitchFamily="34" charset="0"/>
                <a:ea typeface="Calibri" pitchFamily="34" charset="-122"/>
                <a:cs typeface="Calibri" pitchFamily="34" charset="-120"/>
              </a:rPr>
              <a:t>Key Principles</a:t>
            </a:r>
            <a:endParaRPr lang="en-US" sz="1600" dirty="0"/>
          </a:p>
        </p:txBody>
      </p:sp>
      <p:sp>
        <p:nvSpPr>
          <p:cNvPr id="27" name="Shape 25"/>
          <p:cNvSpPr/>
          <p:nvPr/>
        </p:nvSpPr>
        <p:spPr>
          <a:xfrm>
            <a:off x="8659368" y="1600200"/>
            <a:ext cx="54864" cy="777240"/>
          </a:xfrm>
          <a:prstGeom prst="rect">
            <a:avLst/>
          </a:prstGeom>
          <a:solidFill>
            <a:srgbClr val="4A90D9"/>
          </a:solidFill>
          <a:ln w="12700">
            <a:solidFill>
              <a:srgbClr val="4A90D9"/>
            </a:solidFill>
            <a:prstDash val="solid"/>
          </a:ln>
        </p:spPr>
      </p:sp>
      <p:sp>
        <p:nvSpPr>
          <p:cNvPr id="28" name="Text 26"/>
          <p:cNvSpPr/>
          <p:nvPr/>
        </p:nvSpPr>
        <p:spPr>
          <a:xfrm>
            <a:off x="8823960" y="1600200"/>
            <a:ext cx="2953512" cy="8229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ViewModels never import</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Android UI classes</a:t>
            </a:r>
            <a:endParaRPr lang="en-US" sz="1300" dirty="0"/>
          </a:p>
        </p:txBody>
      </p:sp>
      <p:sp>
        <p:nvSpPr>
          <p:cNvPr id="29" name="Shape 27"/>
          <p:cNvSpPr/>
          <p:nvPr/>
        </p:nvSpPr>
        <p:spPr>
          <a:xfrm>
            <a:off x="8659368" y="2873502"/>
            <a:ext cx="54864" cy="777240"/>
          </a:xfrm>
          <a:prstGeom prst="rect">
            <a:avLst/>
          </a:prstGeom>
          <a:solidFill>
            <a:srgbClr val="4A90D9"/>
          </a:solidFill>
          <a:ln w="12700">
            <a:solidFill>
              <a:srgbClr val="4A90D9"/>
            </a:solidFill>
            <a:prstDash val="solid"/>
          </a:ln>
        </p:spPr>
      </p:sp>
      <p:sp>
        <p:nvSpPr>
          <p:cNvPr id="30" name="Text 28"/>
          <p:cNvSpPr/>
          <p:nvPr/>
        </p:nvSpPr>
        <p:spPr>
          <a:xfrm>
            <a:off x="8823960" y="2873502"/>
            <a:ext cx="2953512" cy="8229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Compose screens never</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touch DB or network</a:t>
            </a:r>
            <a:endParaRPr lang="en-US" sz="1300" dirty="0"/>
          </a:p>
        </p:txBody>
      </p:sp>
      <p:sp>
        <p:nvSpPr>
          <p:cNvPr id="31" name="Shape 29"/>
          <p:cNvSpPr/>
          <p:nvPr/>
        </p:nvSpPr>
        <p:spPr>
          <a:xfrm>
            <a:off x="8659368" y="4146804"/>
            <a:ext cx="54864" cy="777240"/>
          </a:xfrm>
          <a:prstGeom prst="rect">
            <a:avLst/>
          </a:prstGeom>
          <a:solidFill>
            <a:srgbClr val="4A90D9"/>
          </a:solidFill>
          <a:ln w="12700">
            <a:solidFill>
              <a:srgbClr val="4A90D9"/>
            </a:solidFill>
            <a:prstDash val="solid"/>
          </a:ln>
        </p:spPr>
      </p:sp>
      <p:sp>
        <p:nvSpPr>
          <p:cNvPr id="32" name="Text 30"/>
          <p:cNvSpPr/>
          <p:nvPr/>
        </p:nvSpPr>
        <p:spPr>
          <a:xfrm>
            <a:off x="8823960" y="4146804"/>
            <a:ext cx="2953512" cy="8229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BibTexExporter has zero</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Android imports — pure</a:t>
            </a:r>
            <a:endParaRPr lang="en-US" sz="1300" dirty="0"/>
          </a:p>
        </p:txBody>
      </p:sp>
      <p:sp>
        <p:nvSpPr>
          <p:cNvPr id="33" name="Shape 31"/>
          <p:cNvSpPr/>
          <p:nvPr/>
        </p:nvSpPr>
        <p:spPr>
          <a:xfrm>
            <a:off x="8659368" y="5420106"/>
            <a:ext cx="54864" cy="777240"/>
          </a:xfrm>
          <a:prstGeom prst="rect">
            <a:avLst/>
          </a:prstGeom>
          <a:solidFill>
            <a:srgbClr val="4A90D9"/>
          </a:solidFill>
          <a:ln w="12700">
            <a:solidFill>
              <a:srgbClr val="4A90D9"/>
            </a:solidFill>
            <a:prstDash val="solid"/>
          </a:ln>
        </p:spPr>
      </p:sp>
      <p:sp>
        <p:nvSpPr>
          <p:cNvPr id="34" name="Text 32"/>
          <p:cNvSpPr/>
          <p:nvPr/>
        </p:nvSpPr>
        <p:spPr>
          <a:xfrm>
            <a:off x="8823960" y="5420106"/>
            <a:ext cx="2953512" cy="8229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File I/O isolated in</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Dispatchers.IO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Your Approach: Functional Programming Concepts</a:t>
            </a:r>
            <a:endParaRPr lang="en-US" sz="2500" dirty="0"/>
          </a:p>
        </p:txBody>
      </p:sp>
      <p:sp>
        <p:nvSpPr>
          <p:cNvPr id="6" name="Text 4"/>
          <p:cNvSpPr/>
          <p:nvPr/>
        </p:nvSpPr>
        <p:spPr>
          <a:xfrm>
            <a:off x="411480" y="978408"/>
            <a:ext cx="11365992" cy="292608"/>
          </a:xfrm>
          <a:prstGeom prst="rect">
            <a:avLst/>
          </a:prstGeom>
          <a:noFill/>
          <a:ln/>
        </p:spPr>
        <p:txBody>
          <a:bodyPr wrap="square" rtlCol="0" anchor="ctr"/>
          <a:lstStyle/>
          <a:p>
            <a:pPr algn="r" indent="0" marL="0">
              <a:buNone/>
            </a:pPr>
            <a:r>
              <a:rPr lang="en-US" sz="1400" b="1" dirty="0">
                <a:solidFill>
                  <a:srgbClr val="4A90D9"/>
                </a:solidFill>
                <a:latin typeface="Calibri" pitchFamily="34" charset="0"/>
                <a:ea typeface="Calibri" pitchFamily="34" charset="-122"/>
                <a:cs typeface="Calibri" pitchFamily="34" charset="-120"/>
              </a:rPr>
              <a:t>9 FP Concepts Demonstrated  (7+ required by rubric)</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307592"/>
          <a:ext cx="11365992" cy="5385816"/>
        </p:xfrm>
        <a:graphic>
          <a:graphicData uri="http://schemas.openxmlformats.org/drawingml/2006/table">
            <a:tbl>
              <a:tblPr/>
              <a:tblGrid>
                <a:gridCol w="3200400"/>
                <a:gridCol w="7863840"/>
              </a:tblGrid>
              <a:tr h="3886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Concept</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A2B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Where in the codebase</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A2B5C"/>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Immutable data classes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Paper — pure value type, never mutated after construction</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Data class: toString / copy / ==</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Paper.toString(), ArxivXmlParser copy(), SearchViewModel == guard</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Sealed UI states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SearchUiState, CollectionsUiState, CollectionDetailUiState</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Lambda expressions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map { }, filter { }  passed;  SortOption.comparator()  returned</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Generics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topNBy&lt;T,K&gt;,  splitBy&lt;T&gt;,  frequencyMap&lt;T&gt;  in FpUtils.kt</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Generic constraints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&lt;K : Comparable&lt;K&gt;&gt;  in topNBy — only orderable keys allowed</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Control flow</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when in parser + UI;  for loop in frequencyMap;  if/else throughout</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Safe calls &amp; Elvis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?.trim() ?: ""    body?.string()    totals[key] ?: 0</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Kotlin Result type</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search() returns Result&lt;List&lt;Paper&gt;&gt;, folded in ViewModel</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Exception handling</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try/catch in API service;  .catch { }  on Room Flows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Reactive streams (Flow)</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Room Flow → combine → StateFlow;  no manual state sync</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88620">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Collection pipelines</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1A2E"/>
                          </a:solidFill>
                          <a:latin typeface="Calibri" pitchFamily="34" charset="0"/>
                          <a:ea typeface="Calibri" pitchFamily="34" charset="-122"/>
                          <a:cs typeface="Calibri" pitchFamily="34" charset="-120"/>
                        </a:rPr>
                        <a:t>splitBy + zip + map + frequencyMap + joinToString in BibTeX export</a:t>
                      </a:r>
                      <a:endParaRPr lang="en-US" sz="125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FP in Action: Sealed UI States</a:t>
            </a:r>
            <a:endParaRPr lang="en-US" sz="2500" dirty="0"/>
          </a:p>
        </p:txBody>
      </p:sp>
      <p:sp>
        <p:nvSpPr>
          <p:cNvPr id="6" name="Shape 4"/>
          <p:cNvSpPr/>
          <p:nvPr/>
        </p:nvSpPr>
        <p:spPr>
          <a:xfrm>
            <a:off x="411480" y="960120"/>
            <a:ext cx="2631186" cy="2522647"/>
          </a:xfrm>
          <a:prstGeom prst="rect">
            <a:avLst/>
          </a:prstGeom>
          <a:solidFill>
            <a:srgbClr val="FFFFFF"/>
          </a:solidFill>
          <a:ln w="12700">
            <a:solidFill>
              <a:srgbClr val="5A6A8A"/>
            </a:solidFill>
            <a:prstDash val="solid"/>
          </a:ln>
        </p:spPr>
      </p:sp>
      <p:sp>
        <p:nvSpPr>
          <p:cNvPr id="7" name="Shape 5"/>
          <p:cNvSpPr/>
          <p:nvPr/>
        </p:nvSpPr>
        <p:spPr>
          <a:xfrm>
            <a:off x="411480" y="960120"/>
            <a:ext cx="64008" cy="2522647"/>
          </a:xfrm>
          <a:prstGeom prst="rect">
            <a:avLst/>
          </a:prstGeom>
          <a:solidFill>
            <a:srgbClr val="5A6A8A"/>
          </a:solidFill>
          <a:ln w="12700">
            <a:solidFill>
              <a:srgbClr val="5A6A8A"/>
            </a:solidFill>
            <a:prstDash val="solid"/>
          </a:ln>
        </p:spPr>
      </p:sp>
      <p:sp>
        <p:nvSpPr>
          <p:cNvPr id="8" name="Shape 6"/>
          <p:cNvSpPr/>
          <p:nvPr/>
        </p:nvSpPr>
        <p:spPr>
          <a:xfrm>
            <a:off x="411480" y="960120"/>
            <a:ext cx="2631186" cy="475488"/>
          </a:xfrm>
          <a:prstGeom prst="rect">
            <a:avLst/>
          </a:prstGeom>
          <a:solidFill>
            <a:srgbClr val="5A6A8A"/>
          </a:solidFill>
          <a:ln w="12700">
            <a:solidFill>
              <a:srgbClr val="5A6A8A"/>
            </a:solidFill>
            <a:prstDash val="solid"/>
          </a:ln>
        </p:spPr>
      </p:sp>
      <p:sp>
        <p:nvSpPr>
          <p:cNvPr id="9" name="Text 7"/>
          <p:cNvSpPr/>
          <p:nvPr/>
        </p:nvSpPr>
        <p:spPr>
          <a:xfrm>
            <a:off x="502920" y="1024128"/>
            <a:ext cx="2494026" cy="38404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Idle</a:t>
            </a:r>
            <a:endParaRPr lang="en-US" sz="1700" dirty="0"/>
          </a:p>
        </p:txBody>
      </p:sp>
      <p:sp>
        <p:nvSpPr>
          <p:cNvPr id="10" name="Text 8"/>
          <p:cNvSpPr/>
          <p:nvPr/>
        </p:nvSpPr>
        <p:spPr>
          <a:xfrm>
            <a:off x="576072" y="1527048"/>
            <a:ext cx="2375154" cy="1864279"/>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Search prompt shown.</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App just opened, no results yet.</a:t>
            </a:r>
            <a:endParaRPr lang="en-US" sz="1300" dirty="0"/>
          </a:p>
        </p:txBody>
      </p:sp>
      <p:sp>
        <p:nvSpPr>
          <p:cNvPr id="11" name="Shape 9"/>
          <p:cNvSpPr/>
          <p:nvPr/>
        </p:nvSpPr>
        <p:spPr>
          <a:xfrm>
            <a:off x="3243834" y="960120"/>
            <a:ext cx="2631186" cy="2522647"/>
          </a:xfrm>
          <a:prstGeom prst="rect">
            <a:avLst/>
          </a:prstGeom>
          <a:solidFill>
            <a:srgbClr val="FFFFFF"/>
          </a:solidFill>
          <a:ln w="12700">
            <a:solidFill>
              <a:srgbClr val="1976D2"/>
            </a:solidFill>
            <a:prstDash val="solid"/>
          </a:ln>
        </p:spPr>
      </p:sp>
      <p:sp>
        <p:nvSpPr>
          <p:cNvPr id="12" name="Shape 10"/>
          <p:cNvSpPr/>
          <p:nvPr/>
        </p:nvSpPr>
        <p:spPr>
          <a:xfrm>
            <a:off x="3243834" y="960120"/>
            <a:ext cx="64008" cy="2522647"/>
          </a:xfrm>
          <a:prstGeom prst="rect">
            <a:avLst/>
          </a:prstGeom>
          <a:solidFill>
            <a:srgbClr val="1976D2"/>
          </a:solidFill>
          <a:ln w="12700">
            <a:solidFill>
              <a:srgbClr val="1976D2"/>
            </a:solidFill>
            <a:prstDash val="solid"/>
          </a:ln>
        </p:spPr>
      </p:sp>
      <p:sp>
        <p:nvSpPr>
          <p:cNvPr id="13" name="Shape 11"/>
          <p:cNvSpPr/>
          <p:nvPr/>
        </p:nvSpPr>
        <p:spPr>
          <a:xfrm>
            <a:off x="3243834" y="960120"/>
            <a:ext cx="2631186" cy="475488"/>
          </a:xfrm>
          <a:prstGeom prst="rect">
            <a:avLst/>
          </a:prstGeom>
          <a:solidFill>
            <a:srgbClr val="1976D2"/>
          </a:solidFill>
          <a:ln w="12700">
            <a:solidFill>
              <a:srgbClr val="1976D2"/>
            </a:solidFill>
            <a:prstDash val="solid"/>
          </a:ln>
        </p:spPr>
      </p:sp>
      <p:sp>
        <p:nvSpPr>
          <p:cNvPr id="14" name="Text 12"/>
          <p:cNvSpPr/>
          <p:nvPr/>
        </p:nvSpPr>
        <p:spPr>
          <a:xfrm>
            <a:off x="3335274" y="1024128"/>
            <a:ext cx="2494026" cy="38404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Loading</a:t>
            </a:r>
            <a:endParaRPr lang="en-US" sz="1700" dirty="0"/>
          </a:p>
        </p:txBody>
      </p:sp>
      <p:sp>
        <p:nvSpPr>
          <p:cNvPr id="15" name="Text 13"/>
          <p:cNvSpPr/>
          <p:nvPr/>
        </p:nvSpPr>
        <p:spPr>
          <a:xfrm>
            <a:off x="3408426" y="1527048"/>
            <a:ext cx="2375154" cy="1864279"/>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Spinner shown.</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ArXiv API request is in flight.</a:t>
            </a:r>
            <a:endParaRPr lang="en-US" sz="1300" dirty="0"/>
          </a:p>
        </p:txBody>
      </p:sp>
      <p:sp>
        <p:nvSpPr>
          <p:cNvPr id="16" name="Shape 14"/>
          <p:cNvSpPr/>
          <p:nvPr/>
        </p:nvSpPr>
        <p:spPr>
          <a:xfrm>
            <a:off x="6076188" y="960120"/>
            <a:ext cx="2631186" cy="2522647"/>
          </a:xfrm>
          <a:prstGeom prst="rect">
            <a:avLst/>
          </a:prstGeom>
          <a:solidFill>
            <a:srgbClr val="FFFFFF"/>
          </a:solidFill>
          <a:ln w="12700">
            <a:solidFill>
              <a:srgbClr val="1B5E20"/>
            </a:solidFill>
            <a:prstDash val="solid"/>
          </a:ln>
        </p:spPr>
      </p:sp>
      <p:sp>
        <p:nvSpPr>
          <p:cNvPr id="17" name="Shape 15"/>
          <p:cNvSpPr/>
          <p:nvPr/>
        </p:nvSpPr>
        <p:spPr>
          <a:xfrm>
            <a:off x="6076188" y="960120"/>
            <a:ext cx="64008" cy="2522647"/>
          </a:xfrm>
          <a:prstGeom prst="rect">
            <a:avLst/>
          </a:prstGeom>
          <a:solidFill>
            <a:srgbClr val="1B5E20"/>
          </a:solidFill>
          <a:ln w="12700">
            <a:solidFill>
              <a:srgbClr val="1B5E20"/>
            </a:solidFill>
            <a:prstDash val="solid"/>
          </a:ln>
        </p:spPr>
      </p:sp>
      <p:sp>
        <p:nvSpPr>
          <p:cNvPr id="18" name="Shape 16"/>
          <p:cNvSpPr/>
          <p:nvPr/>
        </p:nvSpPr>
        <p:spPr>
          <a:xfrm>
            <a:off x="6076188" y="960120"/>
            <a:ext cx="2631186" cy="475488"/>
          </a:xfrm>
          <a:prstGeom prst="rect">
            <a:avLst/>
          </a:prstGeom>
          <a:solidFill>
            <a:srgbClr val="1B5E20"/>
          </a:solidFill>
          <a:ln w="12700">
            <a:solidFill>
              <a:srgbClr val="1B5E20"/>
            </a:solidFill>
            <a:prstDash val="solid"/>
          </a:ln>
        </p:spPr>
      </p:sp>
      <p:sp>
        <p:nvSpPr>
          <p:cNvPr id="19" name="Text 17"/>
          <p:cNvSpPr/>
          <p:nvPr/>
        </p:nvSpPr>
        <p:spPr>
          <a:xfrm>
            <a:off x="6167628" y="1024128"/>
            <a:ext cx="2494026" cy="38404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Success</a:t>
            </a:r>
            <a:endParaRPr lang="en-US" sz="1700" dirty="0"/>
          </a:p>
        </p:txBody>
      </p:sp>
      <p:sp>
        <p:nvSpPr>
          <p:cNvPr id="20" name="Text 18"/>
          <p:cNvSpPr/>
          <p:nvPr/>
        </p:nvSpPr>
        <p:spPr>
          <a:xfrm>
            <a:off x="6240780" y="1527048"/>
            <a:ext cx="2375154" cy="1864279"/>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Paper list rendered.</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LazyColumn of results.</a:t>
            </a:r>
            <a:endParaRPr lang="en-US" sz="1300" dirty="0"/>
          </a:p>
        </p:txBody>
      </p:sp>
      <p:sp>
        <p:nvSpPr>
          <p:cNvPr id="21" name="Shape 19"/>
          <p:cNvSpPr/>
          <p:nvPr/>
        </p:nvSpPr>
        <p:spPr>
          <a:xfrm>
            <a:off x="8908542" y="960120"/>
            <a:ext cx="2631186" cy="2522647"/>
          </a:xfrm>
          <a:prstGeom prst="rect">
            <a:avLst/>
          </a:prstGeom>
          <a:solidFill>
            <a:srgbClr val="FFFFFF"/>
          </a:solidFill>
          <a:ln w="12700">
            <a:solidFill>
              <a:srgbClr val="B71C1C"/>
            </a:solidFill>
            <a:prstDash val="solid"/>
          </a:ln>
        </p:spPr>
      </p:sp>
      <p:sp>
        <p:nvSpPr>
          <p:cNvPr id="22" name="Shape 20"/>
          <p:cNvSpPr/>
          <p:nvPr/>
        </p:nvSpPr>
        <p:spPr>
          <a:xfrm>
            <a:off x="8908542" y="960120"/>
            <a:ext cx="64008" cy="2522647"/>
          </a:xfrm>
          <a:prstGeom prst="rect">
            <a:avLst/>
          </a:prstGeom>
          <a:solidFill>
            <a:srgbClr val="B71C1C"/>
          </a:solidFill>
          <a:ln w="12700">
            <a:solidFill>
              <a:srgbClr val="B71C1C"/>
            </a:solidFill>
            <a:prstDash val="solid"/>
          </a:ln>
        </p:spPr>
      </p:sp>
      <p:sp>
        <p:nvSpPr>
          <p:cNvPr id="23" name="Shape 21"/>
          <p:cNvSpPr/>
          <p:nvPr/>
        </p:nvSpPr>
        <p:spPr>
          <a:xfrm>
            <a:off x="8908542" y="960120"/>
            <a:ext cx="2631186" cy="475488"/>
          </a:xfrm>
          <a:prstGeom prst="rect">
            <a:avLst/>
          </a:prstGeom>
          <a:solidFill>
            <a:srgbClr val="B71C1C"/>
          </a:solidFill>
          <a:ln w="12700">
            <a:solidFill>
              <a:srgbClr val="B71C1C"/>
            </a:solidFill>
            <a:prstDash val="solid"/>
          </a:ln>
        </p:spPr>
      </p:sp>
      <p:sp>
        <p:nvSpPr>
          <p:cNvPr id="24" name="Text 22"/>
          <p:cNvSpPr/>
          <p:nvPr/>
        </p:nvSpPr>
        <p:spPr>
          <a:xfrm>
            <a:off x="8999982" y="1024128"/>
            <a:ext cx="2494026" cy="38404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Error</a:t>
            </a:r>
            <a:endParaRPr lang="en-US" sz="1700" dirty="0"/>
          </a:p>
        </p:txBody>
      </p:sp>
      <p:sp>
        <p:nvSpPr>
          <p:cNvPr id="25" name="Text 23"/>
          <p:cNvSpPr/>
          <p:nvPr/>
        </p:nvSpPr>
        <p:spPr>
          <a:xfrm>
            <a:off x="9073134" y="1527048"/>
            <a:ext cx="2375154" cy="1864279"/>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Error message shown.</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Retry button offered.</a:t>
            </a:r>
            <a:endParaRPr lang="en-US" sz="1300" dirty="0"/>
          </a:p>
        </p:txBody>
      </p:sp>
      <p:sp>
        <p:nvSpPr>
          <p:cNvPr id="26" name="Shape 24"/>
          <p:cNvSpPr/>
          <p:nvPr/>
        </p:nvSpPr>
        <p:spPr>
          <a:xfrm>
            <a:off x="411480" y="3665647"/>
            <a:ext cx="5591556" cy="3027761"/>
          </a:xfrm>
          <a:prstGeom prst="rect">
            <a:avLst/>
          </a:prstGeom>
          <a:solidFill>
            <a:srgbClr val="FFFFFF"/>
          </a:solidFill>
          <a:ln w="12700">
            <a:solidFill>
              <a:srgbClr val="4A90D9"/>
            </a:solidFill>
            <a:prstDash val="solid"/>
          </a:ln>
        </p:spPr>
      </p:sp>
      <p:sp>
        <p:nvSpPr>
          <p:cNvPr id="27" name="Text 25"/>
          <p:cNvSpPr/>
          <p:nvPr/>
        </p:nvSpPr>
        <p:spPr>
          <a:xfrm>
            <a:off x="594360" y="3775375"/>
            <a:ext cx="5317236" cy="347472"/>
          </a:xfrm>
          <a:prstGeom prst="rect">
            <a:avLst/>
          </a:prstGeom>
          <a:noFill/>
          <a:ln/>
        </p:spPr>
        <p:txBody>
          <a:bodyPr wrap="square" rtlCol="0" anchor="ctr"/>
          <a:lstStyle/>
          <a:p>
            <a:pPr indent="0" marL="0">
              <a:buNone/>
            </a:pPr>
            <a:r>
              <a:rPr lang="en-US" sz="1500" b="1" dirty="0">
                <a:solidFill>
                  <a:srgbClr val="1A2B5C"/>
                </a:solidFill>
                <a:latin typeface="Calibri" pitchFamily="34" charset="0"/>
                <a:ea typeface="Calibri" pitchFamily="34" charset="-122"/>
                <a:cs typeface="Calibri" pitchFamily="34" charset="-120"/>
              </a:rPr>
              <a:t>Why sealed classes?</a:t>
            </a:r>
            <a:endParaRPr lang="en-US" sz="1500" dirty="0"/>
          </a:p>
        </p:txBody>
      </p:sp>
      <p:sp>
        <p:nvSpPr>
          <p:cNvPr id="28" name="Text 26"/>
          <p:cNvSpPr/>
          <p:nvPr/>
        </p:nvSpPr>
        <p:spPr>
          <a:xfrm>
            <a:off x="594360" y="4177711"/>
            <a:ext cx="5317236" cy="2424257"/>
          </a:xfrm>
          <a:prstGeom prst="rect">
            <a:avLst/>
          </a:prstGeom>
          <a:noFill/>
          <a:ln/>
        </p:spPr>
        <p:txBody>
          <a:bodyPr wrap="square" rtlCol="0" anchor="t"/>
          <a:lstStyle/>
          <a:p>
            <a:pPr indent="0" marL="0">
              <a:buNone/>
            </a:pPr>
            <a:r>
              <a:rPr lang="en-US" sz="1350" dirty="0">
                <a:solidFill>
                  <a:srgbClr val="1A1A2E"/>
                </a:solidFill>
                <a:latin typeface="Calibri" pitchFamily="34" charset="0"/>
                <a:ea typeface="Calibri" pitchFamily="34" charset="-122"/>
                <a:cs typeface="Calibri" pitchFamily="34" charset="-120"/>
              </a:rPr>
              <a:t>A single type covers every screen state. The when expression is exhaustive — the Kotlin compiler gives an error if any state is not handled. No boolean flags like isLoading or hasError that can contradict each other.</a:t>
            </a:r>
            <a:endParaRPr lang="en-US" sz="1350" dirty="0"/>
          </a:p>
        </p:txBody>
      </p:sp>
      <p:sp>
        <p:nvSpPr>
          <p:cNvPr id="29" name="Shape 27"/>
          <p:cNvSpPr/>
          <p:nvPr/>
        </p:nvSpPr>
        <p:spPr>
          <a:xfrm>
            <a:off x="6185916" y="3665647"/>
            <a:ext cx="5591556" cy="3027761"/>
          </a:xfrm>
          <a:prstGeom prst="rect">
            <a:avLst/>
          </a:prstGeom>
          <a:solidFill>
            <a:srgbClr val="FFFFFF"/>
          </a:solidFill>
          <a:ln w="12700">
            <a:solidFill>
              <a:srgbClr val="CADCFC"/>
            </a:solidFill>
            <a:prstDash val="solid"/>
          </a:ln>
        </p:spPr>
      </p:sp>
      <p:sp>
        <p:nvSpPr>
          <p:cNvPr id="30" name="Text 28"/>
          <p:cNvSpPr/>
          <p:nvPr/>
        </p:nvSpPr>
        <p:spPr>
          <a:xfrm>
            <a:off x="6368796" y="3775375"/>
            <a:ext cx="5317236" cy="347472"/>
          </a:xfrm>
          <a:prstGeom prst="rect">
            <a:avLst/>
          </a:prstGeom>
          <a:noFill/>
          <a:ln/>
        </p:spPr>
        <p:txBody>
          <a:bodyPr wrap="square" rtlCol="0" anchor="ctr"/>
          <a:lstStyle/>
          <a:p>
            <a:pPr indent="0" marL="0">
              <a:buNone/>
            </a:pPr>
            <a:r>
              <a:rPr lang="en-US" sz="1500" b="1" dirty="0">
                <a:solidFill>
                  <a:srgbClr val="1A2B5C"/>
                </a:solidFill>
                <a:latin typeface="Calibri" pitchFamily="34" charset="0"/>
                <a:ea typeface="Calibri" pitchFamily="34" charset="-122"/>
                <a:cs typeface="Calibri" pitchFamily="34" charset="-120"/>
              </a:rPr>
              <a:t>Used across all 3 screens</a:t>
            </a:r>
            <a:endParaRPr lang="en-US" sz="1500" dirty="0"/>
          </a:p>
        </p:txBody>
      </p:sp>
      <p:sp>
        <p:nvSpPr>
          <p:cNvPr id="31" name="Shape 29"/>
          <p:cNvSpPr/>
          <p:nvPr/>
        </p:nvSpPr>
        <p:spPr>
          <a:xfrm>
            <a:off x="6396228" y="4232575"/>
            <a:ext cx="54864" cy="54864"/>
          </a:xfrm>
          <a:prstGeom prst="rect">
            <a:avLst/>
          </a:prstGeom>
          <a:solidFill>
            <a:srgbClr val="4A90D9"/>
          </a:solidFill>
          <a:ln w="12700">
            <a:solidFill>
              <a:srgbClr val="4A90D9"/>
            </a:solidFill>
            <a:prstDash val="solid"/>
          </a:ln>
        </p:spPr>
      </p:sp>
      <p:sp>
        <p:nvSpPr>
          <p:cNvPr id="32" name="Text 30"/>
          <p:cNvSpPr/>
          <p:nvPr/>
        </p:nvSpPr>
        <p:spPr>
          <a:xfrm>
            <a:off x="6524244" y="4177711"/>
            <a:ext cx="5088636" cy="594360"/>
          </a:xfrm>
          <a:prstGeom prst="rect">
            <a:avLst/>
          </a:prstGeom>
          <a:noFill/>
          <a:ln/>
        </p:spPr>
        <p:txBody>
          <a:bodyPr wrap="square" rtlCol="0" anchor="t"/>
          <a:lstStyle/>
          <a:p>
            <a:pPr indent="0" marL="0">
              <a:buNone/>
            </a:pPr>
            <a:r>
              <a:rPr lang="en-US" sz="1350" dirty="0">
                <a:solidFill>
                  <a:srgbClr val="1A1A2E"/>
                </a:solidFill>
                <a:latin typeface="Calibri" pitchFamily="34" charset="0"/>
                <a:ea typeface="Calibri" pitchFamily="34" charset="-122"/>
                <a:cs typeface="Calibri" pitchFamily="34" charset="-120"/>
              </a:rPr>
              <a:t>SearchUiState — Idle / Loading / Success / Error</a:t>
            </a:r>
            <a:endParaRPr lang="en-US" sz="1350" dirty="0"/>
          </a:p>
        </p:txBody>
      </p:sp>
      <p:sp>
        <p:nvSpPr>
          <p:cNvPr id="33" name="Shape 31"/>
          <p:cNvSpPr/>
          <p:nvPr/>
        </p:nvSpPr>
        <p:spPr>
          <a:xfrm>
            <a:off x="6396228" y="4890943"/>
            <a:ext cx="54864" cy="54864"/>
          </a:xfrm>
          <a:prstGeom prst="rect">
            <a:avLst/>
          </a:prstGeom>
          <a:solidFill>
            <a:srgbClr val="4A90D9"/>
          </a:solidFill>
          <a:ln w="12700">
            <a:solidFill>
              <a:srgbClr val="4A90D9"/>
            </a:solidFill>
            <a:prstDash val="solid"/>
          </a:ln>
        </p:spPr>
      </p:sp>
      <p:sp>
        <p:nvSpPr>
          <p:cNvPr id="34" name="Text 32"/>
          <p:cNvSpPr/>
          <p:nvPr/>
        </p:nvSpPr>
        <p:spPr>
          <a:xfrm>
            <a:off x="6524244" y="4836079"/>
            <a:ext cx="5088636" cy="594360"/>
          </a:xfrm>
          <a:prstGeom prst="rect">
            <a:avLst/>
          </a:prstGeom>
          <a:noFill/>
          <a:ln/>
        </p:spPr>
        <p:txBody>
          <a:bodyPr wrap="square" rtlCol="0" anchor="t"/>
          <a:lstStyle/>
          <a:p>
            <a:pPr indent="0" marL="0">
              <a:buNone/>
            </a:pPr>
            <a:r>
              <a:rPr lang="en-US" sz="1350" dirty="0">
                <a:solidFill>
                  <a:srgbClr val="1A1A2E"/>
                </a:solidFill>
                <a:latin typeface="Calibri" pitchFamily="34" charset="0"/>
                <a:ea typeface="Calibri" pitchFamily="34" charset="-122"/>
                <a:cs typeface="Calibri" pitchFamily="34" charset="-120"/>
              </a:rPr>
              <a:t>CollectionsUiState — Loading / Success / Error</a:t>
            </a:r>
            <a:endParaRPr lang="en-US" sz="1350" dirty="0"/>
          </a:p>
        </p:txBody>
      </p:sp>
      <p:sp>
        <p:nvSpPr>
          <p:cNvPr id="35" name="Shape 33"/>
          <p:cNvSpPr/>
          <p:nvPr/>
        </p:nvSpPr>
        <p:spPr>
          <a:xfrm>
            <a:off x="6396228" y="5549311"/>
            <a:ext cx="54864" cy="54864"/>
          </a:xfrm>
          <a:prstGeom prst="rect">
            <a:avLst/>
          </a:prstGeom>
          <a:solidFill>
            <a:srgbClr val="4A90D9"/>
          </a:solidFill>
          <a:ln w="12700">
            <a:solidFill>
              <a:srgbClr val="4A90D9"/>
            </a:solidFill>
            <a:prstDash val="solid"/>
          </a:ln>
        </p:spPr>
      </p:sp>
      <p:sp>
        <p:nvSpPr>
          <p:cNvPr id="36" name="Text 34"/>
          <p:cNvSpPr/>
          <p:nvPr/>
        </p:nvSpPr>
        <p:spPr>
          <a:xfrm>
            <a:off x="6524244" y="5494447"/>
            <a:ext cx="5088636" cy="594360"/>
          </a:xfrm>
          <a:prstGeom prst="rect">
            <a:avLst/>
          </a:prstGeom>
          <a:noFill/>
          <a:ln/>
        </p:spPr>
        <p:txBody>
          <a:bodyPr wrap="square" rtlCol="0" anchor="t"/>
          <a:lstStyle/>
          <a:p>
            <a:pPr indent="0" marL="0">
              <a:buNone/>
            </a:pPr>
            <a:r>
              <a:rPr lang="en-US" sz="1350" dirty="0">
                <a:solidFill>
                  <a:srgbClr val="1A1A2E"/>
                </a:solidFill>
                <a:latin typeface="Calibri" pitchFamily="34" charset="0"/>
                <a:ea typeface="Calibri" pitchFamily="34" charset="-122"/>
                <a:cs typeface="Calibri" pitchFamily="34" charset="-120"/>
              </a:rPr>
              <a:t>CollectionDetailUiState — Loading / Success / Error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FP in Action: Higher-Order Functions &amp; Lambda Expressions</a:t>
            </a:r>
            <a:endParaRPr lang="en-US" sz="2500" dirty="0"/>
          </a:p>
        </p:txBody>
      </p:sp>
      <p:sp>
        <p:nvSpPr>
          <p:cNvPr id="6" name="Shape 4"/>
          <p:cNvSpPr/>
          <p:nvPr/>
        </p:nvSpPr>
        <p:spPr>
          <a:xfrm>
            <a:off x="411480" y="960120"/>
            <a:ext cx="4937760" cy="5733288"/>
          </a:xfrm>
          <a:prstGeom prst="rect">
            <a:avLst/>
          </a:prstGeom>
          <a:solidFill>
            <a:srgbClr val="FFFFFF"/>
          </a:solidFill>
          <a:ln w="12700">
            <a:solidFill>
              <a:srgbClr val="1A2B5C"/>
            </a:solidFill>
            <a:prstDash val="solid"/>
          </a:ln>
        </p:spPr>
      </p:sp>
      <p:sp>
        <p:nvSpPr>
          <p:cNvPr id="7" name="Text 5"/>
          <p:cNvSpPr/>
          <p:nvPr/>
        </p:nvSpPr>
        <p:spPr>
          <a:xfrm>
            <a:off x="594360" y="1097280"/>
            <a:ext cx="4663440" cy="384048"/>
          </a:xfrm>
          <a:prstGeom prst="rect">
            <a:avLst/>
          </a:prstGeom>
          <a:noFill/>
          <a:ln/>
        </p:spPr>
        <p:txBody>
          <a:bodyPr wrap="square" rtlCol="0" anchor="ctr"/>
          <a:lstStyle/>
          <a:p>
            <a:pPr indent="0" marL="0">
              <a:buNone/>
            </a:pPr>
            <a:r>
              <a:rPr lang="en-US" sz="1600" b="1" dirty="0">
                <a:solidFill>
                  <a:srgbClr val="1A2B5C"/>
                </a:solidFill>
                <a:latin typeface="Calibri" pitchFamily="34" charset="0"/>
                <a:ea typeface="Calibri" pitchFamily="34" charset="-122"/>
                <a:cs typeface="Calibri" pitchFamily="34" charset="-120"/>
              </a:rPr>
              <a:t>How it works in ArxivLens</a:t>
            </a:r>
            <a:endParaRPr lang="en-US" sz="1600" dirty="0"/>
          </a:p>
        </p:txBody>
      </p:sp>
      <p:sp>
        <p:nvSpPr>
          <p:cNvPr id="8" name="Shape 6"/>
          <p:cNvSpPr/>
          <p:nvPr/>
        </p:nvSpPr>
        <p:spPr>
          <a:xfrm>
            <a:off x="594360" y="1673352"/>
            <a:ext cx="237744" cy="237744"/>
          </a:xfrm>
          <a:prstGeom prst="ellipse">
            <a:avLst/>
          </a:prstGeom>
          <a:solidFill>
            <a:srgbClr val="4A90D9"/>
          </a:solidFill>
          <a:ln w="12700">
            <a:solidFill>
              <a:srgbClr val="4A90D9"/>
            </a:solidFill>
            <a:prstDash val="solid"/>
          </a:ln>
        </p:spPr>
      </p:sp>
      <p:sp>
        <p:nvSpPr>
          <p:cNvPr id="9" name="Text 7"/>
          <p:cNvSpPr/>
          <p:nvPr/>
        </p:nvSpPr>
        <p:spPr>
          <a:xfrm>
            <a:off x="594360" y="1673352"/>
            <a:ext cx="237744" cy="23774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932688" y="1618488"/>
            <a:ext cx="4279392"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SortOption enum</a:t>
            </a:r>
            <a:endParaRPr lang="en-US" sz="1300" dirty="0"/>
          </a:p>
        </p:txBody>
      </p:sp>
      <p:sp>
        <p:nvSpPr>
          <p:cNvPr id="11" name="Text 9"/>
          <p:cNvSpPr/>
          <p:nvPr/>
        </p:nvSpPr>
        <p:spPr>
          <a:xfrm>
            <a:off x="932688" y="1938528"/>
            <a:ext cx="4279392" cy="82296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Each of the 5 sort modes carries its own Comparator&lt;Paper&gt; as a function value inside the enum entry.</a:t>
            </a:r>
            <a:endParaRPr lang="en-US" sz="1250" dirty="0"/>
          </a:p>
        </p:txBody>
      </p:sp>
      <p:sp>
        <p:nvSpPr>
          <p:cNvPr id="12" name="Shape 10"/>
          <p:cNvSpPr/>
          <p:nvPr/>
        </p:nvSpPr>
        <p:spPr>
          <a:xfrm>
            <a:off x="594360" y="2862072"/>
            <a:ext cx="237744" cy="237744"/>
          </a:xfrm>
          <a:prstGeom prst="ellipse">
            <a:avLst/>
          </a:prstGeom>
          <a:solidFill>
            <a:srgbClr val="4A90D9"/>
          </a:solidFill>
          <a:ln w="12700">
            <a:solidFill>
              <a:srgbClr val="4A90D9"/>
            </a:solidFill>
            <a:prstDash val="solid"/>
          </a:ln>
        </p:spPr>
      </p:sp>
      <p:sp>
        <p:nvSpPr>
          <p:cNvPr id="13" name="Text 11"/>
          <p:cNvSpPr/>
          <p:nvPr/>
        </p:nvSpPr>
        <p:spPr>
          <a:xfrm>
            <a:off x="594360" y="2862072"/>
            <a:ext cx="237744" cy="23774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932688" y="2807208"/>
            <a:ext cx="4279392"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comparator() returns a lambda</a:t>
            </a:r>
            <a:endParaRPr lang="en-US" sz="1300" dirty="0"/>
          </a:p>
        </p:txBody>
      </p:sp>
      <p:sp>
        <p:nvSpPr>
          <p:cNvPr id="15" name="Text 13"/>
          <p:cNvSpPr/>
          <p:nvPr/>
        </p:nvSpPr>
        <p:spPr>
          <a:xfrm>
            <a:off x="932688" y="3127248"/>
            <a:ext cx="4279392" cy="82296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The function returns a comparator — not a result. The UI just calls it; no switch/case logic anywhere in the screens.</a:t>
            </a:r>
            <a:endParaRPr lang="en-US" sz="1250" dirty="0"/>
          </a:p>
        </p:txBody>
      </p:sp>
      <p:sp>
        <p:nvSpPr>
          <p:cNvPr id="16" name="Shape 14"/>
          <p:cNvSpPr/>
          <p:nvPr/>
        </p:nvSpPr>
        <p:spPr>
          <a:xfrm>
            <a:off x="594360" y="4050792"/>
            <a:ext cx="237744" cy="237744"/>
          </a:xfrm>
          <a:prstGeom prst="ellipse">
            <a:avLst/>
          </a:prstGeom>
          <a:solidFill>
            <a:srgbClr val="4A90D9"/>
          </a:solidFill>
          <a:ln w="12700">
            <a:solidFill>
              <a:srgbClr val="4A90D9"/>
            </a:solidFill>
            <a:prstDash val="solid"/>
          </a:ln>
        </p:spPr>
      </p:sp>
      <p:sp>
        <p:nvSpPr>
          <p:cNvPr id="17" name="Text 15"/>
          <p:cNvSpPr/>
          <p:nvPr/>
        </p:nvSpPr>
        <p:spPr>
          <a:xfrm>
            <a:off x="594360" y="4050792"/>
            <a:ext cx="237744" cy="23774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932688" y="3995928"/>
            <a:ext cx="4279392"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Lambdas passed to collections</a:t>
            </a:r>
            <a:endParaRPr lang="en-US" sz="1300" dirty="0"/>
          </a:p>
        </p:txBody>
      </p:sp>
      <p:sp>
        <p:nvSpPr>
          <p:cNvPr id="19" name="Text 17"/>
          <p:cNvSpPr/>
          <p:nvPr/>
        </p:nvSpPr>
        <p:spPr>
          <a:xfrm>
            <a:off x="932688" y="4315968"/>
            <a:ext cx="4279392" cy="82296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map { }, filter { }, sortedWith { } — lambdas are passed throughout the search and BibTeX pipelines.</a:t>
            </a:r>
            <a:endParaRPr lang="en-US" sz="1250" dirty="0"/>
          </a:p>
        </p:txBody>
      </p:sp>
      <p:sp>
        <p:nvSpPr>
          <p:cNvPr id="20" name="Shape 18"/>
          <p:cNvSpPr/>
          <p:nvPr/>
        </p:nvSpPr>
        <p:spPr>
          <a:xfrm>
            <a:off x="594360" y="5239512"/>
            <a:ext cx="237744" cy="237744"/>
          </a:xfrm>
          <a:prstGeom prst="ellipse">
            <a:avLst/>
          </a:prstGeom>
          <a:solidFill>
            <a:srgbClr val="4A90D9"/>
          </a:solidFill>
          <a:ln w="12700">
            <a:solidFill>
              <a:srgbClr val="4A90D9"/>
            </a:solidFill>
            <a:prstDash val="solid"/>
          </a:ln>
        </p:spPr>
      </p:sp>
      <p:sp>
        <p:nvSpPr>
          <p:cNvPr id="21" name="Text 19"/>
          <p:cNvSpPr/>
          <p:nvPr/>
        </p:nvSpPr>
        <p:spPr>
          <a:xfrm>
            <a:off x="594360" y="5239512"/>
            <a:ext cx="237744" cy="23774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932688" y="5184648"/>
            <a:ext cx="4279392"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Reactive combination</a:t>
            </a:r>
            <a:endParaRPr lang="en-US" sz="1300" dirty="0"/>
          </a:p>
        </p:txBody>
      </p:sp>
      <p:sp>
        <p:nvSpPr>
          <p:cNvPr id="23" name="Text 21"/>
          <p:cNvSpPr/>
          <p:nvPr/>
        </p:nvSpPr>
        <p:spPr>
          <a:xfrm>
            <a:off x="932688" y="5504688"/>
            <a:ext cx="4279392" cy="82296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displayState = combine(searchResults, sortOption) — the sorted list is derived automatically whenever either changes.</a:t>
            </a:r>
            <a:endParaRPr lang="en-US" sz="1250" dirty="0"/>
          </a:p>
        </p:txBody>
      </p:sp>
      <p:sp>
        <p:nvSpPr>
          <p:cNvPr id="24" name="Text 22"/>
          <p:cNvSpPr/>
          <p:nvPr/>
        </p:nvSpPr>
        <p:spPr>
          <a:xfrm>
            <a:off x="5577840" y="1005840"/>
            <a:ext cx="6291072" cy="347472"/>
          </a:xfrm>
          <a:prstGeom prst="rect">
            <a:avLst/>
          </a:prstGeom>
          <a:noFill/>
          <a:ln/>
        </p:spPr>
        <p:txBody>
          <a:bodyPr wrap="square" rtlCol="0" anchor="ctr"/>
          <a:lstStyle/>
          <a:p>
            <a:pPr algn="ctr" indent="0" marL="0">
              <a:buNone/>
            </a:pPr>
            <a:r>
              <a:rPr lang="en-US" sz="1400" b="1" dirty="0">
                <a:solidFill>
                  <a:srgbClr val="1A2B5C"/>
                </a:solidFill>
                <a:latin typeface="Calibri" pitchFamily="34" charset="0"/>
                <a:ea typeface="Calibri" pitchFamily="34" charset="-122"/>
                <a:cs typeface="Calibri" pitchFamily="34" charset="-120"/>
              </a:rPr>
              <a:t>5 Sort Modes (Search Screen)</a:t>
            </a:r>
            <a:endParaRPr lang="en-US" sz="1400" dirty="0"/>
          </a:p>
        </p:txBody>
      </p:sp>
      <p:sp>
        <p:nvSpPr>
          <p:cNvPr id="25" name="Shape 23"/>
          <p:cNvSpPr/>
          <p:nvPr/>
        </p:nvSpPr>
        <p:spPr>
          <a:xfrm>
            <a:off x="5577840" y="1399032"/>
            <a:ext cx="6291072" cy="967435"/>
          </a:xfrm>
          <a:prstGeom prst="rect">
            <a:avLst/>
          </a:prstGeom>
          <a:solidFill>
            <a:srgbClr val="1A2B5C"/>
          </a:solidFill>
          <a:ln w="12700">
            <a:solidFill>
              <a:srgbClr val="1A2B5C"/>
            </a:solidFill>
            <a:prstDash val="solid"/>
          </a:ln>
        </p:spPr>
      </p:sp>
      <p:sp>
        <p:nvSpPr>
          <p:cNvPr id="26" name="Text 24"/>
          <p:cNvSpPr/>
          <p:nvPr/>
        </p:nvSpPr>
        <p:spPr>
          <a:xfrm>
            <a:off x="5715000" y="1435608"/>
            <a:ext cx="6062472" cy="48371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Relevance</a:t>
            </a:r>
            <a:endParaRPr lang="en-US" sz="1300" dirty="0"/>
          </a:p>
        </p:txBody>
      </p:sp>
      <p:sp>
        <p:nvSpPr>
          <p:cNvPr id="27" name="Text 25"/>
          <p:cNvSpPr/>
          <p:nvPr/>
        </p:nvSpPr>
        <p:spPr>
          <a:xfrm>
            <a:off x="5715000" y="1882750"/>
            <a:ext cx="6062472" cy="48371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Default API order</a:t>
            </a:r>
            <a:endParaRPr lang="en-US" sz="1150" dirty="0"/>
          </a:p>
        </p:txBody>
      </p:sp>
      <p:sp>
        <p:nvSpPr>
          <p:cNvPr id="28" name="Shape 26"/>
          <p:cNvSpPr/>
          <p:nvPr/>
        </p:nvSpPr>
        <p:spPr>
          <a:xfrm>
            <a:off x="5577840" y="2457907"/>
            <a:ext cx="6291072" cy="967435"/>
          </a:xfrm>
          <a:prstGeom prst="rect">
            <a:avLst/>
          </a:prstGeom>
          <a:solidFill>
            <a:srgbClr val="1565C0"/>
          </a:solidFill>
          <a:ln w="12700">
            <a:solidFill>
              <a:srgbClr val="1565C0"/>
            </a:solidFill>
            <a:prstDash val="solid"/>
          </a:ln>
        </p:spPr>
      </p:sp>
      <p:sp>
        <p:nvSpPr>
          <p:cNvPr id="29" name="Text 27"/>
          <p:cNvSpPr/>
          <p:nvPr/>
        </p:nvSpPr>
        <p:spPr>
          <a:xfrm>
            <a:off x="5715000" y="2494483"/>
            <a:ext cx="6062472" cy="48371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Newest First</a:t>
            </a:r>
            <a:endParaRPr lang="en-US" sz="1300" dirty="0"/>
          </a:p>
        </p:txBody>
      </p:sp>
      <p:sp>
        <p:nvSpPr>
          <p:cNvPr id="30" name="Text 28"/>
          <p:cNvSpPr/>
          <p:nvPr/>
        </p:nvSpPr>
        <p:spPr>
          <a:xfrm>
            <a:off x="5715000" y="2941625"/>
            <a:ext cx="6062472" cy="48371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Sorted by published date, descending</a:t>
            </a:r>
            <a:endParaRPr lang="en-US" sz="1150" dirty="0"/>
          </a:p>
        </p:txBody>
      </p:sp>
      <p:sp>
        <p:nvSpPr>
          <p:cNvPr id="31" name="Shape 29"/>
          <p:cNvSpPr/>
          <p:nvPr/>
        </p:nvSpPr>
        <p:spPr>
          <a:xfrm>
            <a:off x="5577840" y="3516782"/>
            <a:ext cx="6291072" cy="967435"/>
          </a:xfrm>
          <a:prstGeom prst="rect">
            <a:avLst/>
          </a:prstGeom>
          <a:solidFill>
            <a:srgbClr val="1976D2"/>
          </a:solidFill>
          <a:ln w="12700">
            <a:solidFill>
              <a:srgbClr val="1976D2"/>
            </a:solidFill>
            <a:prstDash val="solid"/>
          </a:ln>
        </p:spPr>
      </p:sp>
      <p:sp>
        <p:nvSpPr>
          <p:cNvPr id="32" name="Text 30"/>
          <p:cNvSpPr/>
          <p:nvPr/>
        </p:nvSpPr>
        <p:spPr>
          <a:xfrm>
            <a:off x="5715000" y="3553358"/>
            <a:ext cx="6062472" cy="48371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Most Revised</a:t>
            </a:r>
            <a:endParaRPr lang="en-US" sz="1300" dirty="0"/>
          </a:p>
        </p:txBody>
      </p:sp>
      <p:sp>
        <p:nvSpPr>
          <p:cNvPr id="33" name="Text 31"/>
          <p:cNvSpPr/>
          <p:nvPr/>
        </p:nvSpPr>
        <p:spPr>
          <a:xfrm>
            <a:off x="5715000" y="4000500"/>
            <a:ext cx="6062472" cy="48371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Sorted by version number, descending</a:t>
            </a:r>
            <a:endParaRPr lang="en-US" sz="1150" dirty="0"/>
          </a:p>
        </p:txBody>
      </p:sp>
      <p:sp>
        <p:nvSpPr>
          <p:cNvPr id="34" name="Shape 32"/>
          <p:cNvSpPr/>
          <p:nvPr/>
        </p:nvSpPr>
        <p:spPr>
          <a:xfrm>
            <a:off x="5577840" y="4575658"/>
            <a:ext cx="6291072" cy="967435"/>
          </a:xfrm>
          <a:prstGeom prst="rect">
            <a:avLst/>
          </a:prstGeom>
          <a:solidFill>
            <a:srgbClr val="1E88E5"/>
          </a:solidFill>
          <a:ln w="12700">
            <a:solidFill>
              <a:srgbClr val="1E88E5"/>
            </a:solidFill>
            <a:prstDash val="solid"/>
          </a:ln>
        </p:spPr>
      </p:sp>
      <p:sp>
        <p:nvSpPr>
          <p:cNvPr id="35" name="Text 33"/>
          <p:cNvSpPr/>
          <p:nvPr/>
        </p:nvSpPr>
        <p:spPr>
          <a:xfrm>
            <a:off x="5715000" y="4612234"/>
            <a:ext cx="6062472" cy="48371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Peer Reviewed First</a:t>
            </a:r>
            <a:endParaRPr lang="en-US" sz="1300" dirty="0"/>
          </a:p>
        </p:txBody>
      </p:sp>
      <p:sp>
        <p:nvSpPr>
          <p:cNvPr id="36" name="Text 34"/>
          <p:cNvSpPr/>
          <p:nvPr/>
        </p:nvSpPr>
        <p:spPr>
          <a:xfrm>
            <a:off x="5715000" y="5059375"/>
            <a:ext cx="6062472" cy="48371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Papers with a DOI appear at top</a:t>
            </a:r>
            <a:endParaRPr lang="en-US" sz="1150" dirty="0"/>
          </a:p>
        </p:txBody>
      </p:sp>
      <p:sp>
        <p:nvSpPr>
          <p:cNvPr id="37" name="Shape 35"/>
          <p:cNvSpPr/>
          <p:nvPr/>
        </p:nvSpPr>
        <p:spPr>
          <a:xfrm>
            <a:off x="5577840" y="5634533"/>
            <a:ext cx="6291072" cy="967435"/>
          </a:xfrm>
          <a:prstGeom prst="rect">
            <a:avLst/>
          </a:prstGeom>
          <a:solidFill>
            <a:srgbClr val="4A90D9"/>
          </a:solidFill>
          <a:ln w="12700">
            <a:solidFill>
              <a:srgbClr val="4A90D9"/>
            </a:solidFill>
            <a:prstDash val="solid"/>
          </a:ln>
        </p:spPr>
      </p:sp>
      <p:sp>
        <p:nvSpPr>
          <p:cNvPr id="38" name="Text 36"/>
          <p:cNvSpPr/>
          <p:nvPr/>
        </p:nvSpPr>
        <p:spPr>
          <a:xfrm>
            <a:off x="5715000" y="5671109"/>
            <a:ext cx="6062472" cy="48371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Title A → Z</a:t>
            </a:r>
            <a:endParaRPr lang="en-US" sz="1300" dirty="0"/>
          </a:p>
        </p:txBody>
      </p:sp>
      <p:sp>
        <p:nvSpPr>
          <p:cNvPr id="39" name="Text 37"/>
          <p:cNvSpPr/>
          <p:nvPr/>
        </p:nvSpPr>
        <p:spPr>
          <a:xfrm>
            <a:off x="5715000" y="6118250"/>
            <a:ext cx="6062472" cy="48371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Alphabetical by title (case-insensitive)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FP in Action: Generics &amp; Generic Constraints</a:t>
            </a:r>
            <a:endParaRPr lang="en-US" sz="2500" dirty="0"/>
          </a:p>
        </p:txBody>
      </p:sp>
      <p:sp>
        <p:nvSpPr>
          <p:cNvPr id="6" name="Text 4"/>
          <p:cNvSpPr/>
          <p:nvPr/>
        </p:nvSpPr>
        <p:spPr>
          <a:xfrm>
            <a:off x="411480" y="1005840"/>
            <a:ext cx="11365992" cy="347472"/>
          </a:xfrm>
          <a:prstGeom prst="rect">
            <a:avLst/>
          </a:prstGeom>
          <a:noFill/>
          <a:ln/>
        </p:spPr>
        <p:txBody>
          <a:bodyPr wrap="square" rtlCol="0" anchor="ctr"/>
          <a:lstStyle/>
          <a:p>
            <a:pPr indent="0" marL="0">
              <a:buNone/>
            </a:pPr>
            <a:r>
              <a:rPr lang="en-US" sz="1400" i="1" dirty="0">
                <a:solidFill>
                  <a:srgbClr val="5A6A8A"/>
                </a:solidFill>
                <a:latin typeface="Calibri" pitchFamily="34" charset="0"/>
                <a:ea typeface="Calibri" pitchFamily="34" charset="-122"/>
                <a:cs typeface="Calibri" pitchFamily="34" charset="-120"/>
              </a:rPr>
              <a:t>Three reusable generic extension functions in FpUtils.kt — each used live in the BibTeX export pipeline:</a:t>
            </a:r>
            <a:endParaRPr lang="en-US" sz="1400" dirty="0"/>
          </a:p>
        </p:txBody>
      </p:sp>
      <p:sp>
        <p:nvSpPr>
          <p:cNvPr id="7" name="Shape 5"/>
          <p:cNvSpPr/>
          <p:nvPr/>
        </p:nvSpPr>
        <p:spPr>
          <a:xfrm>
            <a:off x="411480" y="1417320"/>
            <a:ext cx="3563112" cy="5276088"/>
          </a:xfrm>
          <a:prstGeom prst="rect">
            <a:avLst/>
          </a:prstGeom>
          <a:solidFill>
            <a:srgbClr val="FFFFFF"/>
          </a:solidFill>
          <a:ln w="12700">
            <a:solidFill>
              <a:srgbClr val="1A2B5C"/>
            </a:solidFill>
            <a:prstDash val="solid"/>
          </a:ln>
        </p:spPr>
      </p:sp>
      <p:sp>
        <p:nvSpPr>
          <p:cNvPr id="8" name="Shape 6"/>
          <p:cNvSpPr/>
          <p:nvPr/>
        </p:nvSpPr>
        <p:spPr>
          <a:xfrm>
            <a:off x="411480" y="1417320"/>
            <a:ext cx="3563112" cy="64008"/>
          </a:xfrm>
          <a:prstGeom prst="rect">
            <a:avLst/>
          </a:prstGeom>
          <a:solidFill>
            <a:srgbClr val="1A2B5C"/>
          </a:solidFill>
          <a:ln w="12700">
            <a:solidFill>
              <a:srgbClr val="1A2B5C"/>
            </a:solidFill>
            <a:prstDash val="solid"/>
          </a:ln>
        </p:spPr>
      </p:sp>
      <p:sp>
        <p:nvSpPr>
          <p:cNvPr id="9" name="Text 7"/>
          <p:cNvSpPr/>
          <p:nvPr/>
        </p:nvSpPr>
        <p:spPr>
          <a:xfrm>
            <a:off x="548640" y="1536192"/>
            <a:ext cx="3307080" cy="475488"/>
          </a:xfrm>
          <a:prstGeom prst="rect">
            <a:avLst/>
          </a:prstGeom>
          <a:noFill/>
          <a:ln/>
        </p:spPr>
        <p:txBody>
          <a:bodyPr wrap="square" rtlCol="0" anchor="ctr"/>
          <a:lstStyle/>
          <a:p>
            <a:pPr indent="0" marL="0">
              <a:buNone/>
            </a:pPr>
            <a:r>
              <a:rPr lang="en-US" sz="1150" b="1" dirty="0">
                <a:solidFill>
                  <a:srgbClr val="1A2B5C"/>
                </a:solidFill>
                <a:latin typeface="Courier New" pitchFamily="34" charset="0"/>
                <a:ea typeface="Courier New" pitchFamily="34" charset="-122"/>
                <a:cs typeface="Courier New" pitchFamily="34" charset="-120"/>
              </a:rPr>
              <a:t>topNBy&lt;T, K : Comparable&lt;K&gt;&gt;</a:t>
            </a:r>
            <a:endParaRPr lang="en-US" sz="1150" dirty="0"/>
          </a:p>
        </p:txBody>
      </p:sp>
      <p:sp>
        <p:nvSpPr>
          <p:cNvPr id="10" name="Shape 8"/>
          <p:cNvSpPr/>
          <p:nvPr/>
        </p:nvSpPr>
        <p:spPr>
          <a:xfrm>
            <a:off x="548640" y="2057400"/>
            <a:ext cx="3288792" cy="27432"/>
          </a:xfrm>
          <a:prstGeom prst="rect">
            <a:avLst/>
          </a:prstGeom>
          <a:solidFill>
            <a:srgbClr val="CADCFC"/>
          </a:solidFill>
          <a:ln w="12700">
            <a:solidFill>
              <a:srgbClr val="CADCFC"/>
            </a:solidFill>
            <a:prstDash val="solid"/>
          </a:ln>
        </p:spPr>
      </p:sp>
      <p:sp>
        <p:nvSpPr>
          <p:cNvPr id="11" name="Text 9"/>
          <p:cNvSpPr/>
          <p:nvPr/>
        </p:nvSpPr>
        <p:spPr>
          <a:xfrm>
            <a:off x="548640" y="2167128"/>
            <a:ext cx="3307080" cy="274320"/>
          </a:xfrm>
          <a:prstGeom prst="rect">
            <a:avLst/>
          </a:prstGeom>
          <a:noFill/>
          <a:ln/>
        </p:spPr>
        <p:txBody>
          <a:bodyPr wrap="square" rtlCol="0" anchor="ctr"/>
          <a:lstStyle/>
          <a:p>
            <a:pPr indent="0" marL="0">
              <a:buNone/>
            </a:pPr>
            <a:r>
              <a:rPr lang="en-US" sz="1150" b="1" dirty="0">
                <a:solidFill>
                  <a:srgbClr val="1A2B5C"/>
                </a:solidFill>
                <a:latin typeface="Calibri" pitchFamily="34" charset="0"/>
                <a:ea typeface="Calibri" pitchFamily="34" charset="-122"/>
                <a:cs typeface="Calibri" pitchFamily="34" charset="-120"/>
              </a:rPr>
              <a:t>What it does</a:t>
            </a:r>
            <a:endParaRPr lang="en-US" sz="1150" dirty="0"/>
          </a:p>
        </p:txBody>
      </p:sp>
      <p:sp>
        <p:nvSpPr>
          <p:cNvPr id="12" name="Text 10"/>
          <p:cNvSpPr/>
          <p:nvPr/>
        </p:nvSpPr>
        <p:spPr>
          <a:xfrm>
            <a:off x="548640" y="2441448"/>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Returns the top N items from a list, sorted by any property with natural ordering.</a:t>
            </a:r>
            <a:endParaRPr lang="en-US" sz="1200" dirty="0"/>
          </a:p>
        </p:txBody>
      </p:sp>
      <p:sp>
        <p:nvSpPr>
          <p:cNvPr id="13" name="Text 11"/>
          <p:cNvSpPr/>
          <p:nvPr/>
        </p:nvSpPr>
        <p:spPr>
          <a:xfrm>
            <a:off x="548640" y="3557016"/>
            <a:ext cx="3307080" cy="274320"/>
          </a:xfrm>
          <a:prstGeom prst="rect">
            <a:avLst/>
          </a:prstGeom>
          <a:noFill/>
          <a:ln/>
        </p:spPr>
        <p:txBody>
          <a:bodyPr wrap="square" rtlCol="0" anchor="ctr"/>
          <a:lstStyle/>
          <a:p>
            <a:pPr indent="0" marL="0">
              <a:buNone/>
            </a:pPr>
            <a:r>
              <a:rPr lang="en-US" sz="1150" b="1" dirty="0">
                <a:solidFill>
                  <a:srgbClr val="1A2B5C"/>
                </a:solidFill>
                <a:latin typeface="Calibri" pitchFamily="34" charset="0"/>
                <a:ea typeface="Calibri" pitchFamily="34" charset="-122"/>
                <a:cs typeface="Calibri" pitchFamily="34" charset="-120"/>
              </a:rPr>
              <a:t>Constraint</a:t>
            </a:r>
            <a:endParaRPr lang="en-US" sz="1150" dirty="0"/>
          </a:p>
        </p:txBody>
      </p:sp>
      <p:sp>
        <p:nvSpPr>
          <p:cNvPr id="14" name="Text 12"/>
          <p:cNvSpPr/>
          <p:nvPr/>
        </p:nvSpPr>
        <p:spPr>
          <a:xfrm>
            <a:off x="548640" y="3831336"/>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K : Comparable&lt;K&gt; — the constraint means only types that support &lt; / &gt; can be used as the sort key (e.g. Int, String, date strings).</a:t>
            </a:r>
            <a:endParaRPr lang="en-US" sz="1200" dirty="0"/>
          </a:p>
        </p:txBody>
      </p:sp>
      <p:sp>
        <p:nvSpPr>
          <p:cNvPr id="15" name="Text 13"/>
          <p:cNvSpPr/>
          <p:nvPr/>
        </p:nvSpPr>
        <p:spPr>
          <a:xfrm>
            <a:off x="548640" y="4946904"/>
            <a:ext cx="3307080" cy="274320"/>
          </a:xfrm>
          <a:prstGeom prst="rect">
            <a:avLst/>
          </a:prstGeom>
          <a:noFill/>
          <a:ln/>
        </p:spPr>
        <p:txBody>
          <a:bodyPr wrap="square" rtlCol="0" anchor="ctr"/>
          <a:lstStyle/>
          <a:p>
            <a:pPr indent="0" marL="0">
              <a:buNone/>
            </a:pPr>
            <a:r>
              <a:rPr lang="en-US" sz="1150" b="1" dirty="0">
                <a:solidFill>
                  <a:srgbClr val="1A2B5C"/>
                </a:solidFill>
                <a:latin typeface="Calibri" pitchFamily="34" charset="0"/>
                <a:ea typeface="Calibri" pitchFamily="34" charset="-122"/>
                <a:cs typeface="Calibri" pitchFamily="34" charset="-120"/>
              </a:rPr>
              <a:t>Used for</a:t>
            </a:r>
            <a:endParaRPr lang="en-US" sz="1150" dirty="0"/>
          </a:p>
        </p:txBody>
      </p:sp>
      <p:sp>
        <p:nvSpPr>
          <p:cNvPr id="16" name="Text 14"/>
          <p:cNvSpPr/>
          <p:nvPr/>
        </p:nvSpPr>
        <p:spPr>
          <a:xfrm>
            <a:off x="548640" y="5221224"/>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Could rank search results by relevance score or filter top N papers by year.</a:t>
            </a:r>
            <a:endParaRPr lang="en-US" sz="1200" dirty="0"/>
          </a:p>
        </p:txBody>
      </p:sp>
      <p:sp>
        <p:nvSpPr>
          <p:cNvPr id="17" name="Shape 15"/>
          <p:cNvSpPr/>
          <p:nvPr/>
        </p:nvSpPr>
        <p:spPr>
          <a:xfrm>
            <a:off x="4175760" y="1417320"/>
            <a:ext cx="3563112" cy="5276088"/>
          </a:xfrm>
          <a:prstGeom prst="rect">
            <a:avLst/>
          </a:prstGeom>
          <a:solidFill>
            <a:srgbClr val="FFFFFF"/>
          </a:solidFill>
          <a:ln w="12700">
            <a:solidFill>
              <a:srgbClr val="1565C0"/>
            </a:solidFill>
            <a:prstDash val="solid"/>
          </a:ln>
        </p:spPr>
      </p:sp>
      <p:sp>
        <p:nvSpPr>
          <p:cNvPr id="18" name="Shape 16"/>
          <p:cNvSpPr/>
          <p:nvPr/>
        </p:nvSpPr>
        <p:spPr>
          <a:xfrm>
            <a:off x="4175760" y="1417320"/>
            <a:ext cx="3563112" cy="64008"/>
          </a:xfrm>
          <a:prstGeom prst="rect">
            <a:avLst/>
          </a:prstGeom>
          <a:solidFill>
            <a:srgbClr val="1565C0"/>
          </a:solidFill>
          <a:ln w="12700">
            <a:solidFill>
              <a:srgbClr val="1565C0"/>
            </a:solidFill>
            <a:prstDash val="solid"/>
          </a:ln>
        </p:spPr>
      </p:sp>
      <p:sp>
        <p:nvSpPr>
          <p:cNvPr id="19" name="Text 17"/>
          <p:cNvSpPr/>
          <p:nvPr/>
        </p:nvSpPr>
        <p:spPr>
          <a:xfrm>
            <a:off x="4312920" y="1536192"/>
            <a:ext cx="3307080" cy="475488"/>
          </a:xfrm>
          <a:prstGeom prst="rect">
            <a:avLst/>
          </a:prstGeom>
          <a:noFill/>
          <a:ln/>
        </p:spPr>
        <p:txBody>
          <a:bodyPr wrap="square" rtlCol="0" anchor="ctr"/>
          <a:lstStyle/>
          <a:p>
            <a:pPr indent="0" marL="0">
              <a:buNone/>
            </a:pPr>
            <a:r>
              <a:rPr lang="en-US" sz="1150" b="1" dirty="0">
                <a:solidFill>
                  <a:srgbClr val="1565C0"/>
                </a:solidFill>
                <a:latin typeface="Courier New" pitchFamily="34" charset="0"/>
                <a:ea typeface="Courier New" pitchFamily="34" charset="-122"/>
                <a:cs typeface="Courier New" pitchFamily="34" charset="-120"/>
              </a:rPr>
              <a:t>frequencyMap&lt;T&gt;</a:t>
            </a:r>
            <a:endParaRPr lang="en-US" sz="1150" dirty="0"/>
          </a:p>
        </p:txBody>
      </p:sp>
      <p:sp>
        <p:nvSpPr>
          <p:cNvPr id="20" name="Shape 18"/>
          <p:cNvSpPr/>
          <p:nvPr/>
        </p:nvSpPr>
        <p:spPr>
          <a:xfrm>
            <a:off x="4312920" y="2057400"/>
            <a:ext cx="3288792" cy="27432"/>
          </a:xfrm>
          <a:prstGeom prst="rect">
            <a:avLst/>
          </a:prstGeom>
          <a:solidFill>
            <a:srgbClr val="CADCFC"/>
          </a:solidFill>
          <a:ln w="12700">
            <a:solidFill>
              <a:srgbClr val="CADCFC"/>
            </a:solidFill>
            <a:prstDash val="solid"/>
          </a:ln>
        </p:spPr>
      </p:sp>
      <p:sp>
        <p:nvSpPr>
          <p:cNvPr id="21" name="Text 19"/>
          <p:cNvSpPr/>
          <p:nvPr/>
        </p:nvSpPr>
        <p:spPr>
          <a:xfrm>
            <a:off x="4312920" y="2167128"/>
            <a:ext cx="3307080" cy="274320"/>
          </a:xfrm>
          <a:prstGeom prst="rect">
            <a:avLst/>
          </a:prstGeom>
          <a:noFill/>
          <a:ln/>
        </p:spPr>
        <p:txBody>
          <a:bodyPr wrap="square" rtlCol="0" anchor="ctr"/>
          <a:lstStyle/>
          <a:p>
            <a:pPr indent="0" marL="0">
              <a:buNone/>
            </a:pPr>
            <a:r>
              <a:rPr lang="en-US" sz="1150" b="1" dirty="0">
                <a:solidFill>
                  <a:srgbClr val="1565C0"/>
                </a:solidFill>
                <a:latin typeface="Calibri" pitchFamily="34" charset="0"/>
                <a:ea typeface="Calibri" pitchFamily="34" charset="-122"/>
                <a:cs typeface="Calibri" pitchFamily="34" charset="-120"/>
              </a:rPr>
              <a:t>What it does</a:t>
            </a:r>
            <a:endParaRPr lang="en-US" sz="1150" dirty="0"/>
          </a:p>
        </p:txBody>
      </p:sp>
      <p:sp>
        <p:nvSpPr>
          <p:cNvPr id="22" name="Text 20"/>
          <p:cNvSpPr/>
          <p:nvPr/>
        </p:nvSpPr>
        <p:spPr>
          <a:xfrm>
            <a:off x="4312920" y="2441448"/>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Counts how many times each item appears in a list. Uses a for-loop internally.</a:t>
            </a:r>
            <a:endParaRPr lang="en-US" sz="1200" dirty="0"/>
          </a:p>
        </p:txBody>
      </p:sp>
      <p:sp>
        <p:nvSpPr>
          <p:cNvPr id="23" name="Text 21"/>
          <p:cNvSpPr/>
          <p:nvPr/>
        </p:nvSpPr>
        <p:spPr>
          <a:xfrm>
            <a:off x="4312920" y="3557016"/>
            <a:ext cx="3307080" cy="274320"/>
          </a:xfrm>
          <a:prstGeom prst="rect">
            <a:avLst/>
          </a:prstGeom>
          <a:noFill/>
          <a:ln/>
        </p:spPr>
        <p:txBody>
          <a:bodyPr wrap="square" rtlCol="0" anchor="ctr"/>
          <a:lstStyle/>
          <a:p>
            <a:pPr indent="0" marL="0">
              <a:buNone/>
            </a:pPr>
            <a:r>
              <a:rPr lang="en-US" sz="1150" b="1" dirty="0">
                <a:solidFill>
                  <a:srgbClr val="1565C0"/>
                </a:solidFill>
                <a:latin typeface="Calibri" pitchFamily="34" charset="0"/>
                <a:ea typeface="Calibri" pitchFamily="34" charset="-122"/>
                <a:cs typeface="Calibri" pitchFamily="34" charset="-120"/>
              </a:rPr>
              <a:t>Constraint</a:t>
            </a:r>
            <a:endParaRPr lang="en-US" sz="1150" dirty="0"/>
          </a:p>
        </p:txBody>
      </p:sp>
      <p:sp>
        <p:nvSpPr>
          <p:cNvPr id="24" name="Text 22"/>
          <p:cNvSpPr/>
          <p:nvPr/>
        </p:nvSpPr>
        <p:spPr>
          <a:xfrm>
            <a:off x="4312920" y="3831336"/>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Works for any type T — no constraint needed because Map keys just need equality.</a:t>
            </a:r>
            <a:endParaRPr lang="en-US" sz="1200" dirty="0"/>
          </a:p>
        </p:txBody>
      </p:sp>
      <p:sp>
        <p:nvSpPr>
          <p:cNvPr id="25" name="Text 23"/>
          <p:cNvSpPr/>
          <p:nvPr/>
        </p:nvSpPr>
        <p:spPr>
          <a:xfrm>
            <a:off x="4312920" y="4946904"/>
            <a:ext cx="3307080" cy="274320"/>
          </a:xfrm>
          <a:prstGeom prst="rect">
            <a:avLst/>
          </a:prstGeom>
          <a:noFill/>
          <a:ln/>
        </p:spPr>
        <p:txBody>
          <a:bodyPr wrap="square" rtlCol="0" anchor="ctr"/>
          <a:lstStyle/>
          <a:p>
            <a:pPr indent="0" marL="0">
              <a:buNone/>
            </a:pPr>
            <a:r>
              <a:rPr lang="en-US" sz="1150" b="1" dirty="0">
                <a:solidFill>
                  <a:srgbClr val="1565C0"/>
                </a:solidFill>
                <a:latin typeface="Calibri" pitchFamily="34" charset="0"/>
                <a:ea typeface="Calibri" pitchFamily="34" charset="-122"/>
                <a:cs typeface="Calibri" pitchFamily="34" charset="-120"/>
              </a:rPr>
              <a:t>Used for</a:t>
            </a:r>
            <a:endParaRPr lang="en-US" sz="1150" dirty="0"/>
          </a:p>
        </p:txBody>
      </p:sp>
      <p:sp>
        <p:nvSpPr>
          <p:cNvPr id="26" name="Text 24"/>
          <p:cNvSpPr/>
          <p:nvPr/>
        </p:nvSpPr>
        <p:spPr>
          <a:xfrm>
            <a:off x="4312920" y="5221224"/>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Used in BibTeX export to detect duplicate cite keys (e.g. two "vaswani2017" entries) and add suffix letters: vaswani2017a, vaswani2017b.</a:t>
            </a:r>
            <a:endParaRPr lang="en-US" sz="1200" dirty="0"/>
          </a:p>
        </p:txBody>
      </p:sp>
      <p:sp>
        <p:nvSpPr>
          <p:cNvPr id="27" name="Shape 25"/>
          <p:cNvSpPr/>
          <p:nvPr/>
        </p:nvSpPr>
        <p:spPr>
          <a:xfrm>
            <a:off x="7940040" y="1417320"/>
            <a:ext cx="3563112" cy="5276088"/>
          </a:xfrm>
          <a:prstGeom prst="rect">
            <a:avLst/>
          </a:prstGeom>
          <a:solidFill>
            <a:srgbClr val="FFFFFF"/>
          </a:solidFill>
          <a:ln w="12700">
            <a:solidFill>
              <a:srgbClr val="1976D2"/>
            </a:solidFill>
            <a:prstDash val="solid"/>
          </a:ln>
        </p:spPr>
      </p:sp>
      <p:sp>
        <p:nvSpPr>
          <p:cNvPr id="28" name="Shape 26"/>
          <p:cNvSpPr/>
          <p:nvPr/>
        </p:nvSpPr>
        <p:spPr>
          <a:xfrm>
            <a:off x="7940040" y="1417320"/>
            <a:ext cx="3563112" cy="64008"/>
          </a:xfrm>
          <a:prstGeom prst="rect">
            <a:avLst/>
          </a:prstGeom>
          <a:solidFill>
            <a:srgbClr val="1976D2"/>
          </a:solidFill>
          <a:ln w="12700">
            <a:solidFill>
              <a:srgbClr val="1976D2"/>
            </a:solidFill>
            <a:prstDash val="solid"/>
          </a:ln>
        </p:spPr>
      </p:sp>
      <p:sp>
        <p:nvSpPr>
          <p:cNvPr id="29" name="Text 27"/>
          <p:cNvSpPr/>
          <p:nvPr/>
        </p:nvSpPr>
        <p:spPr>
          <a:xfrm>
            <a:off x="8077200" y="1536192"/>
            <a:ext cx="3307080" cy="475488"/>
          </a:xfrm>
          <a:prstGeom prst="rect">
            <a:avLst/>
          </a:prstGeom>
          <a:noFill/>
          <a:ln/>
        </p:spPr>
        <p:txBody>
          <a:bodyPr wrap="square" rtlCol="0" anchor="ctr"/>
          <a:lstStyle/>
          <a:p>
            <a:pPr indent="0" marL="0">
              <a:buNone/>
            </a:pPr>
            <a:r>
              <a:rPr lang="en-US" sz="1150" b="1" dirty="0">
                <a:solidFill>
                  <a:srgbClr val="1976D2"/>
                </a:solidFill>
                <a:latin typeface="Courier New" pitchFamily="34" charset="0"/>
                <a:ea typeface="Courier New" pitchFamily="34" charset="-122"/>
                <a:cs typeface="Courier New" pitchFamily="34" charset="-120"/>
              </a:rPr>
              <a:t>splitBy&lt;T&gt;</a:t>
            </a:r>
            <a:endParaRPr lang="en-US" sz="1150" dirty="0"/>
          </a:p>
        </p:txBody>
      </p:sp>
      <p:sp>
        <p:nvSpPr>
          <p:cNvPr id="30" name="Shape 28"/>
          <p:cNvSpPr/>
          <p:nvPr/>
        </p:nvSpPr>
        <p:spPr>
          <a:xfrm>
            <a:off x="8077200" y="2057400"/>
            <a:ext cx="3288792" cy="27432"/>
          </a:xfrm>
          <a:prstGeom prst="rect">
            <a:avLst/>
          </a:prstGeom>
          <a:solidFill>
            <a:srgbClr val="CADCFC"/>
          </a:solidFill>
          <a:ln w="12700">
            <a:solidFill>
              <a:srgbClr val="CADCFC"/>
            </a:solidFill>
            <a:prstDash val="solid"/>
          </a:ln>
        </p:spPr>
      </p:sp>
      <p:sp>
        <p:nvSpPr>
          <p:cNvPr id="31" name="Text 29"/>
          <p:cNvSpPr/>
          <p:nvPr/>
        </p:nvSpPr>
        <p:spPr>
          <a:xfrm>
            <a:off x="8077200" y="2167128"/>
            <a:ext cx="3307080" cy="274320"/>
          </a:xfrm>
          <a:prstGeom prst="rect">
            <a:avLst/>
          </a:prstGeom>
          <a:noFill/>
          <a:ln/>
        </p:spPr>
        <p:txBody>
          <a:bodyPr wrap="square" rtlCol="0" anchor="ctr"/>
          <a:lstStyle/>
          <a:p>
            <a:pPr indent="0" marL="0">
              <a:buNone/>
            </a:pPr>
            <a:r>
              <a:rPr lang="en-US" sz="1150" b="1" dirty="0">
                <a:solidFill>
                  <a:srgbClr val="1976D2"/>
                </a:solidFill>
                <a:latin typeface="Calibri" pitchFamily="34" charset="0"/>
                <a:ea typeface="Calibri" pitchFamily="34" charset="-122"/>
                <a:cs typeface="Calibri" pitchFamily="34" charset="-120"/>
              </a:rPr>
              <a:t>What it does</a:t>
            </a:r>
            <a:endParaRPr lang="en-US" sz="1150" dirty="0"/>
          </a:p>
        </p:txBody>
      </p:sp>
      <p:sp>
        <p:nvSpPr>
          <p:cNvPr id="32" name="Text 30"/>
          <p:cNvSpPr/>
          <p:nvPr/>
        </p:nvSpPr>
        <p:spPr>
          <a:xfrm>
            <a:off x="8077200" y="2441448"/>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Splits a list into two lists based on a predicate. A named, readable wrapper around Kotlin's partition().</a:t>
            </a:r>
            <a:endParaRPr lang="en-US" sz="1200" dirty="0"/>
          </a:p>
        </p:txBody>
      </p:sp>
      <p:sp>
        <p:nvSpPr>
          <p:cNvPr id="33" name="Text 31"/>
          <p:cNvSpPr/>
          <p:nvPr/>
        </p:nvSpPr>
        <p:spPr>
          <a:xfrm>
            <a:off x="8077200" y="3557016"/>
            <a:ext cx="3307080" cy="274320"/>
          </a:xfrm>
          <a:prstGeom prst="rect">
            <a:avLst/>
          </a:prstGeom>
          <a:noFill/>
          <a:ln/>
        </p:spPr>
        <p:txBody>
          <a:bodyPr wrap="square" rtlCol="0" anchor="ctr"/>
          <a:lstStyle/>
          <a:p>
            <a:pPr indent="0" marL="0">
              <a:buNone/>
            </a:pPr>
            <a:r>
              <a:rPr lang="en-US" sz="1150" b="1" dirty="0">
                <a:solidFill>
                  <a:srgbClr val="1976D2"/>
                </a:solidFill>
                <a:latin typeface="Calibri" pitchFamily="34" charset="0"/>
                <a:ea typeface="Calibri" pitchFamily="34" charset="-122"/>
                <a:cs typeface="Calibri" pitchFamily="34" charset="-120"/>
              </a:rPr>
              <a:t>Constraint</a:t>
            </a:r>
            <a:endParaRPr lang="en-US" sz="1150" dirty="0"/>
          </a:p>
        </p:txBody>
      </p:sp>
      <p:sp>
        <p:nvSpPr>
          <p:cNvPr id="34" name="Text 32"/>
          <p:cNvSpPr/>
          <p:nvPr/>
        </p:nvSpPr>
        <p:spPr>
          <a:xfrm>
            <a:off x="8077200" y="3831336"/>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Works for any type T. The predicate is a lambda: (T) -&gt; Boolean.</a:t>
            </a:r>
            <a:endParaRPr lang="en-US" sz="1200" dirty="0"/>
          </a:p>
        </p:txBody>
      </p:sp>
      <p:sp>
        <p:nvSpPr>
          <p:cNvPr id="35" name="Text 33"/>
          <p:cNvSpPr/>
          <p:nvPr/>
        </p:nvSpPr>
        <p:spPr>
          <a:xfrm>
            <a:off x="8077200" y="4946904"/>
            <a:ext cx="3307080" cy="274320"/>
          </a:xfrm>
          <a:prstGeom prst="rect">
            <a:avLst/>
          </a:prstGeom>
          <a:noFill/>
          <a:ln/>
        </p:spPr>
        <p:txBody>
          <a:bodyPr wrap="square" rtlCol="0" anchor="ctr"/>
          <a:lstStyle/>
          <a:p>
            <a:pPr indent="0" marL="0">
              <a:buNone/>
            </a:pPr>
            <a:r>
              <a:rPr lang="en-US" sz="1150" b="1" dirty="0">
                <a:solidFill>
                  <a:srgbClr val="1976D2"/>
                </a:solidFill>
                <a:latin typeface="Calibri" pitchFamily="34" charset="0"/>
                <a:ea typeface="Calibri" pitchFamily="34" charset="-122"/>
                <a:cs typeface="Calibri" pitchFamily="34" charset="-120"/>
              </a:rPr>
              <a:t>Used for</a:t>
            </a:r>
            <a:endParaRPr lang="en-US" sz="1150" dirty="0"/>
          </a:p>
        </p:txBody>
      </p:sp>
      <p:sp>
        <p:nvSpPr>
          <p:cNvPr id="36" name="Text 34"/>
          <p:cNvSpPr/>
          <p:nvPr/>
        </p:nvSpPr>
        <p:spPr>
          <a:xfrm>
            <a:off x="8077200" y="5221224"/>
            <a:ext cx="3307080" cy="1078992"/>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Used in BibTeX export to put peer-reviewed papers (DOI present) before preprints in the output .bib file.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FP in Action: Immutable Data Classes</a:t>
            </a:r>
            <a:endParaRPr lang="en-US" sz="2500" dirty="0"/>
          </a:p>
        </p:txBody>
      </p:sp>
      <p:sp>
        <p:nvSpPr>
          <p:cNvPr id="6" name="Shape 4"/>
          <p:cNvSpPr/>
          <p:nvPr/>
        </p:nvSpPr>
        <p:spPr>
          <a:xfrm>
            <a:off x="411480" y="960120"/>
            <a:ext cx="4754880" cy="5733288"/>
          </a:xfrm>
          <a:prstGeom prst="rect">
            <a:avLst/>
          </a:prstGeom>
          <a:solidFill>
            <a:srgbClr val="1A2B5C"/>
          </a:solidFill>
          <a:ln w="12700">
            <a:solidFill>
              <a:srgbClr val="1A2B5C"/>
            </a:solidFill>
            <a:prstDash val="solid"/>
          </a:ln>
        </p:spPr>
      </p:sp>
      <p:sp>
        <p:nvSpPr>
          <p:cNvPr id="7" name="Text 5"/>
          <p:cNvSpPr/>
          <p:nvPr/>
        </p:nvSpPr>
        <p:spPr>
          <a:xfrm>
            <a:off x="594360" y="1097280"/>
            <a:ext cx="4480560" cy="384048"/>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Paper — Pure Value Type</a:t>
            </a:r>
            <a:endParaRPr lang="en-US" sz="1700" dirty="0"/>
          </a:p>
        </p:txBody>
      </p:sp>
      <p:sp>
        <p:nvSpPr>
          <p:cNvPr id="8" name="Shape 6"/>
          <p:cNvSpPr/>
          <p:nvPr/>
        </p:nvSpPr>
        <p:spPr>
          <a:xfrm>
            <a:off x="594360" y="1527048"/>
            <a:ext cx="4370832" cy="36576"/>
          </a:xfrm>
          <a:prstGeom prst="rect">
            <a:avLst/>
          </a:prstGeom>
          <a:solidFill>
            <a:srgbClr val="4A90D9"/>
          </a:solidFill>
          <a:ln w="12700">
            <a:solidFill>
              <a:srgbClr val="4A90D9"/>
            </a:solidFill>
            <a:prstDash val="solid"/>
          </a:ln>
        </p:spPr>
      </p:sp>
      <p:sp>
        <p:nvSpPr>
          <p:cNvPr id="9" name="Text 7"/>
          <p:cNvSpPr/>
          <p:nvPr/>
        </p:nvSpPr>
        <p:spPr>
          <a:xfrm>
            <a:off x="594360" y="1645920"/>
            <a:ext cx="4370832" cy="4956048"/>
          </a:xfrm>
          <a:prstGeom prst="rect">
            <a:avLst/>
          </a:prstGeom>
          <a:noFill/>
          <a:ln/>
        </p:spPr>
        <p:txBody>
          <a:bodyPr wrap="square" rtlCol="0" anchor="t"/>
          <a:lstStyle/>
          <a:p>
            <a:pPr indent="0" marL="0">
              <a:buNone/>
            </a:pPr>
            <a:r>
              <a:rPr lang="en-US" sz="1400" dirty="0">
                <a:solidFill>
                  <a:srgbClr val="CADCFC"/>
                </a:solidFill>
                <a:latin typeface="Calibri" pitchFamily="34" charset="0"/>
                <a:ea typeface="Calibri" pitchFamily="34" charset="-122"/>
                <a:cs typeface="Calibri" pitchFamily="34" charset="-120"/>
              </a:rPr>
              <a:t>10 fields — all val, never mutated</a:t>
            </a:r>
            <a:endParaRPr lang="en-US" sz="1400" dirty="0"/>
          </a:p>
          <a:p>
            <a:pPr indent="0" marL="0">
              <a:buNone/>
            </a:pP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Flows unchanged through the entire app:</a:t>
            </a:r>
            <a:endParaRPr lang="en-US" sz="1400" dirty="0"/>
          </a:p>
          <a:p>
            <a:pPr indent="0" marL="0">
              <a:buNone/>
            </a:pP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arXiv API  →  XML Parser  →  ViewModel  →  UI</a:t>
            </a:r>
            <a:endParaRPr lang="en-US" sz="1400" dirty="0"/>
          </a:p>
          <a:p>
            <a:pPr indent="0" marL="0">
              <a:buNone/>
            </a:pP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Every PaperCard in the search results renders from a different Paper object. Nothing in the UI writes back to the data.</a:t>
            </a:r>
            <a:endParaRPr lang="en-US" sz="1400" dirty="0"/>
          </a:p>
        </p:txBody>
      </p:sp>
      <p:sp>
        <p:nvSpPr>
          <p:cNvPr id="10" name="Shape 8"/>
          <p:cNvSpPr/>
          <p:nvPr/>
        </p:nvSpPr>
        <p:spPr>
          <a:xfrm>
            <a:off x="5394960" y="960120"/>
            <a:ext cx="6473952" cy="1801368"/>
          </a:xfrm>
          <a:prstGeom prst="rect">
            <a:avLst/>
          </a:prstGeom>
          <a:solidFill>
            <a:srgbClr val="FFFFFF"/>
          </a:solidFill>
          <a:ln w="12700">
            <a:solidFill>
              <a:srgbClr val="4A90D9"/>
            </a:solidFill>
            <a:prstDash val="solid"/>
          </a:ln>
        </p:spPr>
      </p:sp>
      <p:sp>
        <p:nvSpPr>
          <p:cNvPr id="11" name="Text 9"/>
          <p:cNvSpPr/>
          <p:nvPr/>
        </p:nvSpPr>
        <p:spPr>
          <a:xfrm>
            <a:off x="5559552" y="1051560"/>
            <a:ext cx="3560674" cy="347472"/>
          </a:xfrm>
          <a:prstGeom prst="rect">
            <a:avLst/>
          </a:prstGeom>
          <a:noFill/>
          <a:ln/>
        </p:spPr>
        <p:txBody>
          <a:bodyPr wrap="square" rtlCol="0" anchor="ctr"/>
          <a:lstStyle/>
          <a:p>
            <a:pPr indent="0" marL="0">
              <a:buNone/>
            </a:pPr>
            <a:r>
              <a:rPr lang="en-US" sz="1400" b="1" dirty="0">
                <a:solidFill>
                  <a:srgbClr val="1A2B5C"/>
                </a:solidFill>
                <a:latin typeface="Courier New" pitchFamily="34" charset="0"/>
                <a:ea typeface="Courier New" pitchFamily="34" charset="-122"/>
                <a:cs typeface="Courier New" pitchFamily="34" charset="-120"/>
              </a:rPr>
              <a:t>toString()</a:t>
            </a:r>
            <a:endParaRPr lang="en-US" sz="1400" dirty="0"/>
          </a:p>
        </p:txBody>
      </p:sp>
      <p:sp>
        <p:nvSpPr>
          <p:cNvPr id="12" name="Text 10"/>
          <p:cNvSpPr/>
          <p:nvPr/>
        </p:nvSpPr>
        <p:spPr>
          <a:xfrm>
            <a:off x="9047074" y="1051560"/>
            <a:ext cx="2719060" cy="347472"/>
          </a:xfrm>
          <a:prstGeom prst="rect">
            <a:avLst/>
          </a:prstGeom>
          <a:noFill/>
          <a:ln/>
        </p:spPr>
        <p:txBody>
          <a:bodyPr wrap="square" rtlCol="0" anchor="ctr"/>
          <a:lstStyle/>
          <a:p>
            <a:pPr algn="r" indent="0" marL="0">
              <a:buNone/>
            </a:pPr>
            <a:r>
              <a:rPr lang="en-US" sz="1150" i="1" dirty="0">
                <a:solidFill>
                  <a:srgbClr val="5A6A8A"/>
                </a:solidFill>
                <a:latin typeface="Calibri" pitchFamily="34" charset="0"/>
                <a:ea typeface="Calibri" pitchFamily="34" charset="-122"/>
                <a:cs typeface="Calibri" pitchFamily="34" charset="-120"/>
              </a:rPr>
              <a:t>Paper.kt</a:t>
            </a:r>
            <a:endParaRPr lang="en-US" sz="1150" dirty="0"/>
          </a:p>
        </p:txBody>
      </p:sp>
      <p:sp>
        <p:nvSpPr>
          <p:cNvPr id="13" name="Text 11"/>
          <p:cNvSpPr/>
          <p:nvPr/>
        </p:nvSpPr>
        <p:spPr>
          <a:xfrm>
            <a:off x="5559552" y="1435608"/>
            <a:ext cx="6199632" cy="123444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Custom readable format for logging and debugging.</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Paper[2301.12345] "Attention Is All You Need" by Vaswani (2017)</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Cite-key style — immediately tells you which paper it is.</a:t>
            </a:r>
            <a:endParaRPr lang="en-US" sz="1250" dirty="0"/>
          </a:p>
        </p:txBody>
      </p:sp>
      <p:sp>
        <p:nvSpPr>
          <p:cNvPr id="14" name="Shape 12"/>
          <p:cNvSpPr/>
          <p:nvPr/>
        </p:nvSpPr>
        <p:spPr>
          <a:xfrm>
            <a:off x="5394960" y="2871216"/>
            <a:ext cx="6473952" cy="1801368"/>
          </a:xfrm>
          <a:prstGeom prst="rect">
            <a:avLst/>
          </a:prstGeom>
          <a:solidFill>
            <a:srgbClr val="FFFFFF"/>
          </a:solidFill>
          <a:ln w="12700">
            <a:solidFill>
              <a:srgbClr val="CADCFC"/>
            </a:solidFill>
            <a:prstDash val="solid"/>
          </a:ln>
        </p:spPr>
      </p:sp>
      <p:sp>
        <p:nvSpPr>
          <p:cNvPr id="15" name="Text 13"/>
          <p:cNvSpPr/>
          <p:nvPr/>
        </p:nvSpPr>
        <p:spPr>
          <a:xfrm>
            <a:off x="5559552" y="2962656"/>
            <a:ext cx="3560674" cy="347472"/>
          </a:xfrm>
          <a:prstGeom prst="rect">
            <a:avLst/>
          </a:prstGeom>
          <a:noFill/>
          <a:ln/>
        </p:spPr>
        <p:txBody>
          <a:bodyPr wrap="square" rtlCol="0" anchor="ctr"/>
          <a:lstStyle/>
          <a:p>
            <a:pPr indent="0" marL="0">
              <a:buNone/>
            </a:pPr>
            <a:r>
              <a:rPr lang="en-US" sz="1400" b="1" dirty="0">
                <a:solidFill>
                  <a:srgbClr val="1A2B5C"/>
                </a:solidFill>
                <a:latin typeface="Courier New" pitchFamily="34" charset="0"/>
                <a:ea typeface="Courier New" pitchFamily="34" charset="-122"/>
                <a:cs typeface="Courier New" pitchFamily="34" charset="-120"/>
              </a:rPr>
              <a:t>copy()</a:t>
            </a:r>
            <a:endParaRPr lang="en-US" sz="1400" dirty="0"/>
          </a:p>
        </p:txBody>
      </p:sp>
      <p:sp>
        <p:nvSpPr>
          <p:cNvPr id="16" name="Text 14"/>
          <p:cNvSpPr/>
          <p:nvPr/>
        </p:nvSpPr>
        <p:spPr>
          <a:xfrm>
            <a:off x="9047074" y="2962656"/>
            <a:ext cx="2719060" cy="347472"/>
          </a:xfrm>
          <a:prstGeom prst="rect">
            <a:avLst/>
          </a:prstGeom>
          <a:noFill/>
          <a:ln/>
        </p:spPr>
        <p:txBody>
          <a:bodyPr wrap="square" rtlCol="0" anchor="ctr"/>
          <a:lstStyle/>
          <a:p>
            <a:pPr algn="r" indent="0" marL="0">
              <a:buNone/>
            </a:pPr>
            <a:r>
              <a:rPr lang="en-US" sz="1150" i="1" dirty="0">
                <a:solidFill>
                  <a:srgbClr val="5A6A8A"/>
                </a:solidFill>
                <a:latin typeface="Calibri" pitchFamily="34" charset="0"/>
                <a:ea typeface="Calibri" pitchFamily="34" charset="-122"/>
                <a:cs typeface="Calibri" pitchFamily="34" charset="-120"/>
              </a:rPr>
              <a:t>ArxivXmlParser.kt</a:t>
            </a:r>
            <a:endParaRPr lang="en-US" sz="1150" dirty="0"/>
          </a:p>
        </p:txBody>
      </p:sp>
      <p:sp>
        <p:nvSpPr>
          <p:cNvPr id="17" name="Text 15"/>
          <p:cNvSpPr/>
          <p:nvPr/>
        </p:nvSpPr>
        <p:spPr>
          <a:xfrm>
            <a:off x="5559552" y="3346704"/>
            <a:ext cx="6199632" cy="123444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When the arXiv feed has no explicit PDF link, the parser derives it from the abstract URL using copy() — rawPaper.copy(pdfUrl = arxivUrl.replace("/abs/", "/pdf/")). No mutation, no extra constructor.</a:t>
            </a:r>
            <a:endParaRPr lang="en-US" sz="1250" dirty="0"/>
          </a:p>
        </p:txBody>
      </p:sp>
      <p:sp>
        <p:nvSpPr>
          <p:cNvPr id="18" name="Shape 16"/>
          <p:cNvSpPr/>
          <p:nvPr/>
        </p:nvSpPr>
        <p:spPr>
          <a:xfrm>
            <a:off x="5394960" y="4782312"/>
            <a:ext cx="6473952" cy="1801368"/>
          </a:xfrm>
          <a:prstGeom prst="rect">
            <a:avLst/>
          </a:prstGeom>
          <a:solidFill>
            <a:srgbClr val="FFFFFF"/>
          </a:solidFill>
          <a:ln w="12700">
            <a:solidFill>
              <a:srgbClr val="CADCFC"/>
            </a:solidFill>
            <a:prstDash val="solid"/>
          </a:ln>
        </p:spPr>
      </p:sp>
      <p:sp>
        <p:nvSpPr>
          <p:cNvPr id="19" name="Text 17"/>
          <p:cNvSpPr/>
          <p:nvPr/>
        </p:nvSpPr>
        <p:spPr>
          <a:xfrm>
            <a:off x="5559552" y="4873752"/>
            <a:ext cx="3560674" cy="347472"/>
          </a:xfrm>
          <a:prstGeom prst="rect">
            <a:avLst/>
          </a:prstGeom>
          <a:noFill/>
          <a:ln/>
        </p:spPr>
        <p:txBody>
          <a:bodyPr wrap="square" rtlCol="0" anchor="ctr"/>
          <a:lstStyle/>
          <a:p>
            <a:pPr indent="0" marL="0">
              <a:buNone/>
            </a:pPr>
            <a:r>
              <a:rPr lang="en-US" sz="1400" b="1" dirty="0">
                <a:solidFill>
                  <a:srgbClr val="1A2B5C"/>
                </a:solidFill>
                <a:latin typeface="Courier New" pitchFamily="34" charset="0"/>
                <a:ea typeface="Courier New" pitchFamily="34" charset="-122"/>
                <a:cs typeface="Courier New" pitchFamily="34" charset="-120"/>
              </a:rPr>
              <a:t>== structural equality</a:t>
            </a:r>
            <a:endParaRPr lang="en-US" sz="1400" dirty="0"/>
          </a:p>
        </p:txBody>
      </p:sp>
      <p:sp>
        <p:nvSpPr>
          <p:cNvPr id="20" name="Text 18"/>
          <p:cNvSpPr/>
          <p:nvPr/>
        </p:nvSpPr>
        <p:spPr>
          <a:xfrm>
            <a:off x="9047074" y="4873752"/>
            <a:ext cx="2719060" cy="347472"/>
          </a:xfrm>
          <a:prstGeom prst="rect">
            <a:avLst/>
          </a:prstGeom>
          <a:noFill/>
          <a:ln/>
        </p:spPr>
        <p:txBody>
          <a:bodyPr wrap="square" rtlCol="0" anchor="ctr"/>
          <a:lstStyle/>
          <a:p>
            <a:pPr algn="r" indent="0" marL="0">
              <a:buNone/>
            </a:pPr>
            <a:r>
              <a:rPr lang="en-US" sz="1150" i="1" dirty="0">
                <a:solidFill>
                  <a:srgbClr val="5A6A8A"/>
                </a:solidFill>
                <a:latin typeface="Calibri" pitchFamily="34" charset="0"/>
                <a:ea typeface="Calibri" pitchFamily="34" charset="-122"/>
                <a:cs typeface="Calibri" pitchFamily="34" charset="-120"/>
              </a:rPr>
              <a:t>SearchViewModel.kt</a:t>
            </a:r>
            <a:endParaRPr lang="en-US" sz="1150" dirty="0"/>
          </a:p>
        </p:txBody>
      </p:sp>
      <p:sp>
        <p:nvSpPr>
          <p:cNvPr id="21" name="Text 19"/>
          <p:cNvSpPr/>
          <p:nvPr/>
        </p:nvSpPr>
        <p:spPr>
          <a:xfrm>
            <a:off x="5559552" y="5257800"/>
            <a:ext cx="6199632" cy="123444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selectPaper() checks if (_selectedPaper.value == paper) before updating state. Data class equality compares all fields — tapping the same paper twice does nothing.</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FP in Action: Pure BibTeX Export Pipeline</a:t>
            </a:r>
            <a:endParaRPr lang="en-US" sz="2500" dirty="0"/>
          </a:p>
        </p:txBody>
      </p:sp>
      <p:sp>
        <p:nvSpPr>
          <p:cNvPr id="6" name="Shape 4"/>
          <p:cNvSpPr/>
          <p:nvPr/>
        </p:nvSpPr>
        <p:spPr>
          <a:xfrm>
            <a:off x="411480" y="960120"/>
            <a:ext cx="5120640" cy="423733"/>
          </a:xfrm>
          <a:prstGeom prst="rect">
            <a:avLst/>
          </a:prstGeom>
          <a:solidFill>
            <a:srgbClr val="1A2B5C"/>
          </a:solidFill>
          <a:ln w="12700">
            <a:solidFill>
              <a:srgbClr val="1A2B5C"/>
            </a:solidFill>
            <a:prstDash val="solid"/>
          </a:ln>
        </p:spPr>
      </p:sp>
      <p:sp>
        <p:nvSpPr>
          <p:cNvPr id="7" name="Text 5"/>
          <p:cNvSpPr/>
          <p:nvPr/>
        </p:nvSpPr>
        <p:spPr>
          <a:xfrm>
            <a:off x="539496" y="960120"/>
            <a:ext cx="4892040" cy="423733"/>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List&lt;SavedPaper&gt;</a:t>
            </a:r>
            <a:endParaRPr lang="en-US" sz="1100" dirty="0"/>
          </a:p>
        </p:txBody>
      </p:sp>
      <p:sp>
        <p:nvSpPr>
          <p:cNvPr id="8" name="Text 6"/>
          <p:cNvSpPr/>
          <p:nvPr/>
        </p:nvSpPr>
        <p:spPr>
          <a:xfrm>
            <a:off x="2788920" y="1383853"/>
            <a:ext cx="365760" cy="73152"/>
          </a:xfrm>
          <a:prstGeom prst="rect">
            <a:avLst/>
          </a:prstGeom>
          <a:noFill/>
          <a:ln/>
        </p:spPr>
        <p:txBody>
          <a:bodyPr wrap="square" rtlCol="0" anchor="ctr"/>
          <a:lstStyle/>
          <a:p>
            <a:pPr algn="ctr" indent="0" marL="0">
              <a:buNone/>
            </a:pPr>
            <a:r>
              <a:rPr lang="en-US" sz="900" dirty="0">
                <a:solidFill>
                  <a:srgbClr val="4A90D9"/>
                </a:solidFill>
                <a:latin typeface="Calibri" pitchFamily="34" charset="0"/>
                <a:ea typeface="Calibri" pitchFamily="34" charset="-122"/>
                <a:cs typeface="Calibri" pitchFamily="34" charset="-120"/>
              </a:rPr>
              <a:t>▼</a:t>
            </a:r>
            <a:endParaRPr lang="en-US" sz="900" dirty="0"/>
          </a:p>
        </p:txBody>
      </p:sp>
      <p:sp>
        <p:nvSpPr>
          <p:cNvPr id="9" name="Shape 7"/>
          <p:cNvSpPr/>
          <p:nvPr/>
        </p:nvSpPr>
        <p:spPr>
          <a:xfrm>
            <a:off x="411480" y="1457005"/>
            <a:ext cx="5120640" cy="423733"/>
          </a:xfrm>
          <a:prstGeom prst="rect">
            <a:avLst/>
          </a:prstGeom>
          <a:solidFill>
            <a:srgbClr val="1565C0"/>
          </a:solidFill>
          <a:ln w="12700">
            <a:solidFill>
              <a:srgbClr val="1565C0"/>
            </a:solidFill>
            <a:prstDash val="solid"/>
          </a:ln>
        </p:spPr>
      </p:sp>
      <p:sp>
        <p:nvSpPr>
          <p:cNvPr id="10" name="Text 8"/>
          <p:cNvSpPr/>
          <p:nvPr/>
        </p:nvSpPr>
        <p:spPr>
          <a:xfrm>
            <a:off x="539496" y="1457005"/>
            <a:ext cx="4892040" cy="423733"/>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splitBy { doi.isNotBlank() }</a:t>
            </a:r>
            <a:endParaRPr lang="en-US" sz="1100" dirty="0"/>
          </a:p>
        </p:txBody>
      </p:sp>
      <p:sp>
        <p:nvSpPr>
          <p:cNvPr id="11" name="Text 9"/>
          <p:cNvSpPr/>
          <p:nvPr/>
        </p:nvSpPr>
        <p:spPr>
          <a:xfrm>
            <a:off x="2788920" y="1880738"/>
            <a:ext cx="365760" cy="73152"/>
          </a:xfrm>
          <a:prstGeom prst="rect">
            <a:avLst/>
          </a:prstGeom>
          <a:noFill/>
          <a:ln/>
        </p:spPr>
        <p:txBody>
          <a:bodyPr wrap="square" rtlCol="0" anchor="ctr"/>
          <a:lstStyle/>
          <a:p>
            <a:pPr algn="ctr" indent="0" marL="0">
              <a:buNone/>
            </a:pPr>
            <a:r>
              <a:rPr lang="en-US" sz="900" dirty="0">
                <a:solidFill>
                  <a:srgbClr val="4A90D9"/>
                </a:solidFill>
                <a:latin typeface="Calibri" pitchFamily="34" charset="0"/>
                <a:ea typeface="Calibri" pitchFamily="34" charset="-122"/>
                <a:cs typeface="Calibri" pitchFamily="34" charset="-120"/>
              </a:rPr>
              <a:t>▼</a:t>
            </a:r>
            <a:endParaRPr lang="en-US" sz="900" dirty="0"/>
          </a:p>
        </p:txBody>
      </p:sp>
      <p:sp>
        <p:nvSpPr>
          <p:cNvPr id="12" name="Shape 10"/>
          <p:cNvSpPr/>
          <p:nvPr/>
        </p:nvSpPr>
        <p:spPr>
          <a:xfrm>
            <a:off x="411480" y="1953890"/>
            <a:ext cx="5120640" cy="423733"/>
          </a:xfrm>
          <a:prstGeom prst="rect">
            <a:avLst/>
          </a:prstGeom>
          <a:solidFill>
            <a:srgbClr val="1976D2"/>
          </a:solidFill>
          <a:ln w="12700">
            <a:solidFill>
              <a:srgbClr val="1976D2"/>
            </a:solidFill>
            <a:prstDash val="solid"/>
          </a:ln>
        </p:spPr>
      </p:sp>
      <p:sp>
        <p:nvSpPr>
          <p:cNvPr id="13" name="Text 11"/>
          <p:cNvSpPr/>
          <p:nvPr/>
        </p:nvSpPr>
        <p:spPr>
          <a:xfrm>
            <a:off x="539496" y="1953890"/>
            <a:ext cx="4892040" cy="423733"/>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map { buildCiteKey(it) }</a:t>
            </a:r>
            <a:endParaRPr lang="en-US" sz="1100" dirty="0"/>
          </a:p>
        </p:txBody>
      </p:sp>
      <p:sp>
        <p:nvSpPr>
          <p:cNvPr id="14" name="Text 12"/>
          <p:cNvSpPr/>
          <p:nvPr/>
        </p:nvSpPr>
        <p:spPr>
          <a:xfrm>
            <a:off x="2788920" y="2377623"/>
            <a:ext cx="365760" cy="73152"/>
          </a:xfrm>
          <a:prstGeom prst="rect">
            <a:avLst/>
          </a:prstGeom>
          <a:noFill/>
          <a:ln/>
        </p:spPr>
        <p:txBody>
          <a:bodyPr wrap="square" rtlCol="0" anchor="ctr"/>
          <a:lstStyle/>
          <a:p>
            <a:pPr algn="ctr" indent="0" marL="0">
              <a:buNone/>
            </a:pPr>
            <a:r>
              <a:rPr lang="en-US" sz="900" dirty="0">
                <a:solidFill>
                  <a:srgbClr val="4A90D9"/>
                </a:solidFill>
                <a:latin typeface="Calibri" pitchFamily="34" charset="0"/>
                <a:ea typeface="Calibri" pitchFamily="34" charset="-122"/>
                <a:cs typeface="Calibri" pitchFamily="34" charset="-120"/>
              </a:rPr>
              <a:t>▼</a:t>
            </a:r>
            <a:endParaRPr lang="en-US" sz="900" dirty="0"/>
          </a:p>
        </p:txBody>
      </p:sp>
      <p:sp>
        <p:nvSpPr>
          <p:cNvPr id="15" name="Shape 13"/>
          <p:cNvSpPr/>
          <p:nvPr/>
        </p:nvSpPr>
        <p:spPr>
          <a:xfrm>
            <a:off x="411480" y="2450775"/>
            <a:ext cx="5120640" cy="423733"/>
          </a:xfrm>
          <a:prstGeom prst="rect">
            <a:avLst/>
          </a:prstGeom>
          <a:solidFill>
            <a:srgbClr val="1E88E5"/>
          </a:solidFill>
          <a:ln w="12700">
            <a:solidFill>
              <a:srgbClr val="1E88E5"/>
            </a:solidFill>
            <a:prstDash val="solid"/>
          </a:ln>
        </p:spPr>
      </p:sp>
      <p:sp>
        <p:nvSpPr>
          <p:cNvPr id="16" name="Text 14"/>
          <p:cNvSpPr/>
          <p:nvPr/>
        </p:nvSpPr>
        <p:spPr>
          <a:xfrm>
            <a:off x="539496" y="2450775"/>
            <a:ext cx="4892040" cy="423733"/>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frequencyMap()  [for-loop]</a:t>
            </a:r>
            <a:endParaRPr lang="en-US" sz="1100" dirty="0"/>
          </a:p>
        </p:txBody>
      </p:sp>
      <p:sp>
        <p:nvSpPr>
          <p:cNvPr id="17" name="Text 15"/>
          <p:cNvSpPr/>
          <p:nvPr/>
        </p:nvSpPr>
        <p:spPr>
          <a:xfrm>
            <a:off x="2788920" y="2874508"/>
            <a:ext cx="365760" cy="73152"/>
          </a:xfrm>
          <a:prstGeom prst="rect">
            <a:avLst/>
          </a:prstGeom>
          <a:noFill/>
          <a:ln/>
        </p:spPr>
        <p:txBody>
          <a:bodyPr wrap="square" rtlCol="0" anchor="ctr"/>
          <a:lstStyle/>
          <a:p>
            <a:pPr algn="ctr" indent="0" marL="0">
              <a:buNone/>
            </a:pPr>
            <a:r>
              <a:rPr lang="en-US" sz="900" dirty="0">
                <a:solidFill>
                  <a:srgbClr val="4A90D9"/>
                </a:solidFill>
                <a:latin typeface="Calibri" pitchFamily="34" charset="0"/>
                <a:ea typeface="Calibri" pitchFamily="34" charset="-122"/>
                <a:cs typeface="Calibri" pitchFamily="34" charset="-120"/>
              </a:rPr>
              <a:t>▼</a:t>
            </a:r>
            <a:endParaRPr lang="en-US" sz="900" dirty="0"/>
          </a:p>
        </p:txBody>
      </p:sp>
      <p:sp>
        <p:nvSpPr>
          <p:cNvPr id="18" name="Shape 16"/>
          <p:cNvSpPr/>
          <p:nvPr/>
        </p:nvSpPr>
        <p:spPr>
          <a:xfrm>
            <a:off x="411480" y="2947660"/>
            <a:ext cx="5120640" cy="423733"/>
          </a:xfrm>
          <a:prstGeom prst="rect">
            <a:avLst/>
          </a:prstGeom>
          <a:solidFill>
            <a:srgbClr val="42A5F5"/>
          </a:solidFill>
          <a:ln w="12700">
            <a:solidFill>
              <a:srgbClr val="42A5F5"/>
            </a:solidFill>
            <a:prstDash val="solid"/>
          </a:ln>
        </p:spPr>
      </p:sp>
      <p:sp>
        <p:nvSpPr>
          <p:cNvPr id="19" name="Text 17"/>
          <p:cNvSpPr/>
          <p:nvPr/>
        </p:nvSpPr>
        <p:spPr>
          <a:xfrm>
            <a:off x="539496" y="2947660"/>
            <a:ext cx="4892040" cy="423733"/>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zip + map { paperToBibTex() }</a:t>
            </a:r>
            <a:endParaRPr lang="en-US" sz="1100" dirty="0"/>
          </a:p>
        </p:txBody>
      </p:sp>
      <p:sp>
        <p:nvSpPr>
          <p:cNvPr id="20" name="Text 18"/>
          <p:cNvSpPr/>
          <p:nvPr/>
        </p:nvSpPr>
        <p:spPr>
          <a:xfrm>
            <a:off x="2788920" y="3371393"/>
            <a:ext cx="365760" cy="73152"/>
          </a:xfrm>
          <a:prstGeom prst="rect">
            <a:avLst/>
          </a:prstGeom>
          <a:noFill/>
          <a:ln/>
        </p:spPr>
        <p:txBody>
          <a:bodyPr wrap="square" rtlCol="0" anchor="ctr"/>
          <a:lstStyle/>
          <a:p>
            <a:pPr algn="ctr" indent="0" marL="0">
              <a:buNone/>
            </a:pPr>
            <a:r>
              <a:rPr lang="en-US" sz="900" dirty="0">
                <a:solidFill>
                  <a:srgbClr val="4A90D9"/>
                </a:solidFill>
                <a:latin typeface="Calibri" pitchFamily="34" charset="0"/>
                <a:ea typeface="Calibri" pitchFamily="34" charset="-122"/>
                <a:cs typeface="Calibri" pitchFamily="34" charset="-120"/>
              </a:rPr>
              <a:t>▼</a:t>
            </a:r>
            <a:endParaRPr lang="en-US" sz="900" dirty="0"/>
          </a:p>
        </p:txBody>
      </p:sp>
      <p:sp>
        <p:nvSpPr>
          <p:cNvPr id="21" name="Shape 19"/>
          <p:cNvSpPr/>
          <p:nvPr/>
        </p:nvSpPr>
        <p:spPr>
          <a:xfrm>
            <a:off x="411480" y="3444545"/>
            <a:ext cx="5120640" cy="423733"/>
          </a:xfrm>
          <a:prstGeom prst="rect">
            <a:avLst/>
          </a:prstGeom>
          <a:solidFill>
            <a:srgbClr val="4A90D9"/>
          </a:solidFill>
          <a:ln w="12700">
            <a:solidFill>
              <a:srgbClr val="4A90D9"/>
            </a:solidFill>
            <a:prstDash val="solid"/>
          </a:ln>
        </p:spPr>
      </p:sp>
      <p:sp>
        <p:nvSpPr>
          <p:cNvPr id="22" name="Text 20"/>
          <p:cNvSpPr/>
          <p:nvPr/>
        </p:nvSpPr>
        <p:spPr>
          <a:xfrm>
            <a:off x="539496" y="3444545"/>
            <a:ext cx="4892040" cy="423733"/>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joinToString("\n\n")  →  .bib string</a:t>
            </a:r>
            <a:endParaRPr lang="en-US" sz="1100" dirty="0"/>
          </a:p>
        </p:txBody>
      </p:sp>
      <p:sp>
        <p:nvSpPr>
          <p:cNvPr id="23" name="Shape 21"/>
          <p:cNvSpPr/>
          <p:nvPr/>
        </p:nvSpPr>
        <p:spPr>
          <a:xfrm>
            <a:off x="5806440" y="960120"/>
            <a:ext cx="6062472" cy="1399215"/>
          </a:xfrm>
          <a:prstGeom prst="rect">
            <a:avLst/>
          </a:prstGeom>
          <a:solidFill>
            <a:srgbClr val="FFFFFF"/>
          </a:solidFill>
          <a:ln w="12700">
            <a:solidFill>
              <a:srgbClr val="1B5E20"/>
            </a:solidFill>
            <a:prstDash val="solid"/>
          </a:ln>
        </p:spPr>
      </p:sp>
      <p:sp>
        <p:nvSpPr>
          <p:cNvPr id="24" name="Text 22"/>
          <p:cNvSpPr/>
          <p:nvPr/>
        </p:nvSpPr>
        <p:spPr>
          <a:xfrm>
            <a:off x="5971032" y="1051560"/>
            <a:ext cx="5806440" cy="347472"/>
          </a:xfrm>
          <a:prstGeom prst="rect">
            <a:avLst/>
          </a:prstGeom>
          <a:noFill/>
          <a:ln/>
        </p:spPr>
        <p:txBody>
          <a:bodyPr wrap="square"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BibTexExporter — Pure</a:t>
            </a:r>
            <a:endParaRPr lang="en-US" sz="1400" dirty="0"/>
          </a:p>
        </p:txBody>
      </p:sp>
      <p:sp>
        <p:nvSpPr>
          <p:cNvPr id="25" name="Text 23"/>
          <p:cNvSpPr/>
          <p:nvPr/>
        </p:nvSpPr>
        <p:spPr>
          <a:xfrm>
            <a:off x="5971032" y="1435608"/>
            <a:ext cx="5806440" cy="832287"/>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Zero Android imports · Zero I/O</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Same input always → same .bib output</a:t>
            </a:r>
            <a:endParaRPr lang="en-US" sz="1300" dirty="0"/>
          </a:p>
        </p:txBody>
      </p:sp>
      <p:sp>
        <p:nvSpPr>
          <p:cNvPr id="26" name="Shape 24"/>
          <p:cNvSpPr/>
          <p:nvPr/>
        </p:nvSpPr>
        <p:spPr>
          <a:xfrm>
            <a:off x="5806440" y="2496495"/>
            <a:ext cx="6062472" cy="1399215"/>
          </a:xfrm>
          <a:prstGeom prst="rect">
            <a:avLst/>
          </a:prstGeom>
          <a:solidFill>
            <a:srgbClr val="FFFFFF"/>
          </a:solidFill>
          <a:ln w="12700">
            <a:solidFill>
              <a:srgbClr val="E65100"/>
            </a:solidFill>
            <a:prstDash val="solid"/>
          </a:ln>
        </p:spPr>
      </p:sp>
      <p:sp>
        <p:nvSpPr>
          <p:cNvPr id="27" name="Text 25"/>
          <p:cNvSpPr/>
          <p:nvPr/>
        </p:nvSpPr>
        <p:spPr>
          <a:xfrm>
            <a:off x="5971032" y="2587935"/>
            <a:ext cx="5806440" cy="347472"/>
          </a:xfrm>
          <a:prstGeom prst="rect">
            <a:avLst/>
          </a:prstGeom>
          <a:noFill/>
          <a:ln/>
        </p:spPr>
        <p:txBody>
          <a:bodyPr wrap="square" rtlCol="0" anchor="ctr"/>
          <a:lstStyle/>
          <a:p>
            <a:pPr indent="0" marL="0">
              <a:buNone/>
            </a:pPr>
            <a:r>
              <a:rPr lang="en-US" sz="1400" b="1" dirty="0">
                <a:solidFill>
                  <a:srgbClr val="BF360C"/>
                </a:solidFill>
                <a:latin typeface="Calibri" pitchFamily="34" charset="0"/>
                <a:ea typeface="Calibri" pitchFamily="34" charset="-122"/>
                <a:cs typeface="Calibri" pitchFamily="34" charset="-120"/>
              </a:rPr>
              <a:t>BibTexFileWriter — I/O Shell</a:t>
            </a:r>
            <a:endParaRPr lang="en-US" sz="1400" dirty="0"/>
          </a:p>
        </p:txBody>
      </p:sp>
      <p:sp>
        <p:nvSpPr>
          <p:cNvPr id="28" name="Text 26"/>
          <p:cNvSpPr/>
          <p:nvPr/>
        </p:nvSpPr>
        <p:spPr>
          <a:xfrm>
            <a:off x="5971032" y="2971983"/>
            <a:ext cx="5806440" cy="832287"/>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Writes string to cache · Builds share intent</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All disk I/O isolated here</a:t>
            </a:r>
            <a:endParaRPr lang="en-US" sz="1300" dirty="0"/>
          </a:p>
        </p:txBody>
      </p:sp>
      <p:sp>
        <p:nvSpPr>
          <p:cNvPr id="29" name="Text 27"/>
          <p:cNvSpPr/>
          <p:nvPr/>
        </p:nvSpPr>
        <p:spPr>
          <a:xfrm>
            <a:off x="411480" y="4106022"/>
            <a:ext cx="5943600" cy="292608"/>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Actual .bib output for one paper:</a:t>
            </a:r>
            <a:endParaRPr lang="en-US" sz="1300" dirty="0"/>
          </a:p>
        </p:txBody>
      </p:sp>
      <p:sp>
        <p:nvSpPr>
          <p:cNvPr id="30" name="Text 28"/>
          <p:cNvSpPr/>
          <p:nvPr/>
        </p:nvSpPr>
        <p:spPr>
          <a:xfrm>
            <a:off x="6583680" y="4106022"/>
            <a:ext cx="5285232" cy="292608"/>
          </a:xfrm>
          <a:prstGeom prst="rect">
            <a:avLst/>
          </a:prstGeom>
          <a:noFill/>
          <a:ln/>
        </p:spPr>
        <p:txBody>
          <a:bodyPr wrap="square" rtlCol="0" anchor="ctr"/>
          <a:lstStyle/>
          <a:p>
            <a:pPr algn="r" indent="0" marL="0">
              <a:buNone/>
            </a:pPr>
            <a:r>
              <a:rPr lang="en-US" sz="1200" i="1" dirty="0">
                <a:solidFill>
                  <a:srgbClr val="5A6A8A"/>
                </a:solidFill>
                <a:latin typeface="Calibri" pitchFamily="34" charset="0"/>
                <a:ea typeface="Calibri" pitchFamily="34" charset="-122"/>
                <a:cs typeface="Calibri" pitchFamily="34" charset="-120"/>
              </a:rPr>
              <a:t>Paste directly into Overleaf — no edits needed</a:t>
            </a:r>
            <a:endParaRPr lang="en-US" sz="1200" dirty="0"/>
          </a:p>
        </p:txBody>
      </p:sp>
      <p:sp>
        <p:nvSpPr>
          <p:cNvPr id="31" name="Shape 29"/>
          <p:cNvSpPr/>
          <p:nvPr/>
        </p:nvSpPr>
        <p:spPr>
          <a:xfrm>
            <a:off x="411480" y="4435206"/>
            <a:ext cx="11365992" cy="2258202"/>
          </a:xfrm>
          <a:prstGeom prst="rect">
            <a:avLst/>
          </a:prstGeom>
          <a:solidFill>
            <a:srgbClr val="1E2D40"/>
          </a:solidFill>
          <a:ln w="12700">
            <a:solidFill>
              <a:srgbClr val="2E4060"/>
            </a:solidFill>
            <a:prstDash val="solid"/>
          </a:ln>
        </p:spPr>
      </p:sp>
      <p:sp>
        <p:nvSpPr>
          <p:cNvPr id="32" name="Shape 30"/>
          <p:cNvSpPr/>
          <p:nvPr/>
        </p:nvSpPr>
        <p:spPr>
          <a:xfrm>
            <a:off x="530352" y="4535790"/>
            <a:ext cx="128016" cy="128016"/>
          </a:xfrm>
          <a:prstGeom prst="ellipse">
            <a:avLst/>
          </a:prstGeom>
          <a:solidFill>
            <a:srgbClr val="E74C3C"/>
          </a:solidFill>
          <a:ln w="12700">
            <a:solidFill>
              <a:srgbClr val="E74C3C"/>
            </a:solidFill>
            <a:prstDash val="solid"/>
          </a:ln>
        </p:spPr>
      </p:sp>
      <p:sp>
        <p:nvSpPr>
          <p:cNvPr id="33" name="Shape 31"/>
          <p:cNvSpPr/>
          <p:nvPr/>
        </p:nvSpPr>
        <p:spPr>
          <a:xfrm>
            <a:off x="731520" y="4535790"/>
            <a:ext cx="128016" cy="128016"/>
          </a:xfrm>
          <a:prstGeom prst="ellipse">
            <a:avLst/>
          </a:prstGeom>
          <a:solidFill>
            <a:srgbClr val="F39C12"/>
          </a:solidFill>
          <a:ln w="12700">
            <a:solidFill>
              <a:srgbClr val="F39C12"/>
            </a:solidFill>
            <a:prstDash val="solid"/>
          </a:ln>
        </p:spPr>
      </p:sp>
      <p:sp>
        <p:nvSpPr>
          <p:cNvPr id="34" name="Shape 32"/>
          <p:cNvSpPr/>
          <p:nvPr/>
        </p:nvSpPr>
        <p:spPr>
          <a:xfrm>
            <a:off x="932688" y="4535790"/>
            <a:ext cx="128016" cy="128016"/>
          </a:xfrm>
          <a:prstGeom prst="ellipse">
            <a:avLst/>
          </a:prstGeom>
          <a:solidFill>
            <a:srgbClr val="2ECC71"/>
          </a:solidFill>
          <a:ln w="12700">
            <a:solidFill>
              <a:srgbClr val="2ECC71"/>
            </a:solidFill>
            <a:prstDash val="solid"/>
          </a:ln>
        </p:spPr>
      </p:sp>
      <p:sp>
        <p:nvSpPr>
          <p:cNvPr id="35" name="Text 33"/>
          <p:cNvSpPr/>
          <p:nvPr/>
        </p:nvSpPr>
        <p:spPr>
          <a:xfrm>
            <a:off x="548640" y="4736958"/>
            <a:ext cx="11109960" cy="1874154"/>
          </a:xfrm>
          <a:prstGeom prst="rect">
            <a:avLst/>
          </a:prstGeom>
          <a:noFill/>
          <a:ln/>
        </p:spPr>
        <p:txBody>
          <a:bodyPr wrap="square" rtlCol="0" anchor="t"/>
          <a:lstStyle/>
          <a:p>
            <a:pPr indent="0" marL="0">
              <a:buNone/>
            </a:pPr>
            <a:r>
              <a:rPr lang="en-US" sz="1200" dirty="0">
                <a:solidFill>
                  <a:srgbClr val="D4E6FF"/>
                </a:solidFill>
                <a:latin typeface="Courier New" pitchFamily="34" charset="0"/>
                <a:ea typeface="Courier New" pitchFamily="34" charset="-122"/>
                <a:cs typeface="Courier New" pitchFamily="34" charset="-120"/>
              </a:rPr>
              <a:t>@misc{vaswani2017,</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author        = {Ashish Vaswani and Noam Shazeer and Niki Parmar and Jakob Uszkoreit},</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title         = {{Attention Is All You Need}},</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year          = {2017},</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eprint        = {1706.03762},</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archivePrefix = {arXiv},</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primaryClass  = {cs.CL},</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url           = {https://arxiv.org/abs/1706.03762},</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  doi           = {10.5555/3295222.3295349},</a:t>
            </a:r>
            <a:endParaRPr lang="en-US" sz="1200" dirty="0"/>
          </a:p>
          <a:p>
            <a:pPr indent="0" marL="0">
              <a:buNone/>
            </a:pPr>
            <a:r>
              <a:rPr lang="en-US" sz="1200" dirty="0">
                <a:solidFill>
                  <a:srgbClr val="D4E6FF"/>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Prototype: 4 Application Screens</a:t>
            </a:r>
            <a:endParaRPr lang="en-US" sz="2500" dirty="0"/>
          </a:p>
        </p:txBody>
      </p:sp>
      <p:sp>
        <p:nvSpPr>
          <p:cNvPr id="6" name="Shape 4"/>
          <p:cNvSpPr/>
          <p:nvPr/>
        </p:nvSpPr>
        <p:spPr>
          <a:xfrm>
            <a:off x="411480" y="960120"/>
            <a:ext cx="5454396" cy="2756916"/>
          </a:xfrm>
          <a:prstGeom prst="rect">
            <a:avLst/>
          </a:prstGeom>
          <a:solidFill>
            <a:srgbClr val="FFFFFF"/>
          </a:solidFill>
          <a:ln w="12700">
            <a:solidFill>
              <a:srgbClr val="4A90D9"/>
            </a:solidFill>
            <a:prstDash val="solid"/>
          </a:ln>
        </p:spPr>
      </p:sp>
      <p:sp>
        <p:nvSpPr>
          <p:cNvPr id="7" name="Shape 5"/>
          <p:cNvSpPr/>
          <p:nvPr/>
        </p:nvSpPr>
        <p:spPr>
          <a:xfrm>
            <a:off x="548640" y="1069848"/>
            <a:ext cx="420624" cy="420624"/>
          </a:xfrm>
          <a:prstGeom prst="ellipse">
            <a:avLst/>
          </a:prstGeom>
          <a:solidFill>
            <a:srgbClr val="1A2B5C"/>
          </a:solidFill>
          <a:ln w="12700">
            <a:solidFill>
              <a:srgbClr val="1A2B5C"/>
            </a:solidFill>
            <a:prstDash val="solid"/>
          </a:ln>
        </p:spPr>
      </p:sp>
      <p:sp>
        <p:nvSpPr>
          <p:cNvPr id="8" name="Text 6"/>
          <p:cNvSpPr/>
          <p:nvPr/>
        </p:nvSpPr>
        <p:spPr>
          <a:xfrm>
            <a:off x="548640" y="1069848"/>
            <a:ext cx="420624" cy="420624"/>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69848" y="1069848"/>
            <a:ext cx="4631436" cy="420624"/>
          </a:xfrm>
          <a:prstGeom prst="rect">
            <a:avLst/>
          </a:prstGeom>
          <a:noFill/>
          <a:ln/>
        </p:spPr>
        <p:txBody>
          <a:bodyPr wrap="square" rtlCol="0" anchor="ctr"/>
          <a:lstStyle/>
          <a:p>
            <a:pPr indent="0" marL="0">
              <a:buNone/>
            </a:pPr>
            <a:r>
              <a:rPr lang="en-US" sz="1700" b="1" dirty="0">
                <a:solidFill>
                  <a:srgbClr val="1A2B5C"/>
                </a:solidFill>
                <a:latin typeface="Calibri" pitchFamily="34" charset="0"/>
                <a:ea typeface="Calibri" pitchFamily="34" charset="-122"/>
                <a:cs typeface="Calibri" pitchFamily="34" charset="-120"/>
              </a:rPr>
              <a:t>Search</a:t>
            </a:r>
            <a:endParaRPr lang="en-US" sz="1700" dirty="0"/>
          </a:p>
        </p:txBody>
      </p:sp>
      <p:sp>
        <p:nvSpPr>
          <p:cNvPr id="10" name="Shape 8"/>
          <p:cNvSpPr/>
          <p:nvPr/>
        </p:nvSpPr>
        <p:spPr>
          <a:xfrm>
            <a:off x="594360" y="1581912"/>
            <a:ext cx="64008" cy="64008"/>
          </a:xfrm>
          <a:prstGeom prst="rect">
            <a:avLst/>
          </a:prstGeom>
          <a:solidFill>
            <a:srgbClr val="4A90D9"/>
          </a:solidFill>
          <a:ln w="12700">
            <a:solidFill>
              <a:srgbClr val="4A90D9"/>
            </a:solidFill>
            <a:prstDash val="solid"/>
          </a:ln>
        </p:spPr>
      </p:sp>
      <p:sp>
        <p:nvSpPr>
          <p:cNvPr id="11" name="Text 9"/>
          <p:cNvSpPr/>
          <p:nvPr/>
        </p:nvSpPr>
        <p:spPr>
          <a:xfrm>
            <a:off x="731520" y="1536192"/>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Search field + sort dropdown (6 modes)</a:t>
            </a:r>
            <a:endParaRPr lang="en-US" sz="1300" dirty="0"/>
          </a:p>
        </p:txBody>
      </p:sp>
      <p:sp>
        <p:nvSpPr>
          <p:cNvPr id="12" name="Shape 10"/>
          <p:cNvSpPr/>
          <p:nvPr/>
        </p:nvSpPr>
        <p:spPr>
          <a:xfrm>
            <a:off x="594360" y="2203704"/>
            <a:ext cx="64008" cy="64008"/>
          </a:xfrm>
          <a:prstGeom prst="rect">
            <a:avLst/>
          </a:prstGeom>
          <a:solidFill>
            <a:srgbClr val="4A90D9"/>
          </a:solidFill>
          <a:ln w="12700">
            <a:solidFill>
              <a:srgbClr val="4A90D9"/>
            </a:solidFill>
            <a:prstDash val="solid"/>
          </a:ln>
        </p:spPr>
      </p:sp>
      <p:sp>
        <p:nvSpPr>
          <p:cNvPr id="13" name="Text 11"/>
          <p:cNvSpPr/>
          <p:nvPr/>
        </p:nvSpPr>
        <p:spPr>
          <a:xfrm>
            <a:off x="731520" y="2157984"/>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LazyColumn of PaperCard results</a:t>
            </a:r>
            <a:endParaRPr lang="en-US" sz="1300" dirty="0"/>
          </a:p>
        </p:txBody>
      </p:sp>
      <p:sp>
        <p:nvSpPr>
          <p:cNvPr id="14" name="Shape 12"/>
          <p:cNvSpPr/>
          <p:nvPr/>
        </p:nvSpPr>
        <p:spPr>
          <a:xfrm>
            <a:off x="594360" y="2825496"/>
            <a:ext cx="64008" cy="64008"/>
          </a:xfrm>
          <a:prstGeom prst="rect">
            <a:avLst/>
          </a:prstGeom>
          <a:solidFill>
            <a:srgbClr val="4A90D9"/>
          </a:solidFill>
          <a:ln w="12700">
            <a:solidFill>
              <a:srgbClr val="4A90D9"/>
            </a:solidFill>
            <a:prstDash val="solid"/>
          </a:ln>
        </p:spPr>
      </p:sp>
      <p:sp>
        <p:nvSpPr>
          <p:cNvPr id="15" name="Text 13"/>
          <p:cNvSpPr/>
          <p:nvPr/>
        </p:nvSpPr>
        <p:spPr>
          <a:xfrm>
            <a:off x="731520" y="2779776"/>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Save-to-collection bottom sheet</a:t>
            </a:r>
            <a:endParaRPr lang="en-US" sz="1300" dirty="0"/>
          </a:p>
        </p:txBody>
      </p:sp>
      <p:sp>
        <p:nvSpPr>
          <p:cNvPr id="16" name="Shape 14"/>
          <p:cNvSpPr/>
          <p:nvPr/>
        </p:nvSpPr>
        <p:spPr>
          <a:xfrm>
            <a:off x="594360" y="3447288"/>
            <a:ext cx="64008" cy="64008"/>
          </a:xfrm>
          <a:prstGeom prst="rect">
            <a:avLst/>
          </a:prstGeom>
          <a:solidFill>
            <a:srgbClr val="4A90D9"/>
          </a:solidFill>
          <a:ln w="12700">
            <a:solidFill>
              <a:srgbClr val="4A90D9"/>
            </a:solidFill>
            <a:prstDash val="solid"/>
          </a:ln>
        </p:spPr>
      </p:sp>
      <p:sp>
        <p:nvSpPr>
          <p:cNvPr id="17" name="Text 15"/>
          <p:cNvSpPr/>
          <p:nvPr/>
        </p:nvSpPr>
        <p:spPr>
          <a:xfrm>
            <a:off x="731520" y="3401568"/>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New-collection dialog</a:t>
            </a:r>
            <a:endParaRPr lang="en-US" sz="1300" dirty="0"/>
          </a:p>
        </p:txBody>
      </p:sp>
      <p:sp>
        <p:nvSpPr>
          <p:cNvPr id="18" name="Shape 16"/>
          <p:cNvSpPr/>
          <p:nvPr/>
        </p:nvSpPr>
        <p:spPr>
          <a:xfrm>
            <a:off x="6140196" y="960120"/>
            <a:ext cx="5454396" cy="2756916"/>
          </a:xfrm>
          <a:prstGeom prst="rect">
            <a:avLst/>
          </a:prstGeom>
          <a:solidFill>
            <a:srgbClr val="FFFFFF"/>
          </a:solidFill>
          <a:ln w="12700">
            <a:solidFill>
              <a:srgbClr val="4A90D9"/>
            </a:solidFill>
            <a:prstDash val="solid"/>
          </a:ln>
        </p:spPr>
      </p:sp>
      <p:sp>
        <p:nvSpPr>
          <p:cNvPr id="19" name="Shape 17"/>
          <p:cNvSpPr/>
          <p:nvPr/>
        </p:nvSpPr>
        <p:spPr>
          <a:xfrm>
            <a:off x="6277356" y="1069848"/>
            <a:ext cx="420624" cy="420624"/>
          </a:xfrm>
          <a:prstGeom prst="ellipse">
            <a:avLst/>
          </a:prstGeom>
          <a:solidFill>
            <a:srgbClr val="1A2B5C"/>
          </a:solidFill>
          <a:ln w="12700">
            <a:solidFill>
              <a:srgbClr val="1A2B5C"/>
            </a:solidFill>
            <a:prstDash val="solid"/>
          </a:ln>
        </p:spPr>
      </p:sp>
      <p:sp>
        <p:nvSpPr>
          <p:cNvPr id="20" name="Text 18"/>
          <p:cNvSpPr/>
          <p:nvPr/>
        </p:nvSpPr>
        <p:spPr>
          <a:xfrm>
            <a:off x="6277356" y="1069848"/>
            <a:ext cx="420624" cy="420624"/>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9"/>
          <p:cNvSpPr/>
          <p:nvPr/>
        </p:nvSpPr>
        <p:spPr>
          <a:xfrm>
            <a:off x="6798564" y="1069848"/>
            <a:ext cx="4631436" cy="420624"/>
          </a:xfrm>
          <a:prstGeom prst="rect">
            <a:avLst/>
          </a:prstGeom>
          <a:noFill/>
          <a:ln/>
        </p:spPr>
        <p:txBody>
          <a:bodyPr wrap="square" rtlCol="0" anchor="ctr"/>
          <a:lstStyle/>
          <a:p>
            <a:pPr indent="0" marL="0">
              <a:buNone/>
            </a:pPr>
            <a:r>
              <a:rPr lang="en-US" sz="1700" b="1" dirty="0">
                <a:solidFill>
                  <a:srgbClr val="1A2B5C"/>
                </a:solidFill>
                <a:latin typeface="Calibri" pitchFamily="34" charset="0"/>
                <a:ea typeface="Calibri" pitchFamily="34" charset="-122"/>
                <a:cs typeface="Calibri" pitchFamily="34" charset="-120"/>
              </a:rPr>
              <a:t>Paper Detail</a:t>
            </a:r>
            <a:endParaRPr lang="en-US" sz="1700" dirty="0"/>
          </a:p>
        </p:txBody>
      </p:sp>
      <p:sp>
        <p:nvSpPr>
          <p:cNvPr id="22" name="Shape 20"/>
          <p:cNvSpPr/>
          <p:nvPr/>
        </p:nvSpPr>
        <p:spPr>
          <a:xfrm>
            <a:off x="6323076" y="1581912"/>
            <a:ext cx="64008" cy="64008"/>
          </a:xfrm>
          <a:prstGeom prst="rect">
            <a:avLst/>
          </a:prstGeom>
          <a:solidFill>
            <a:srgbClr val="4A90D9"/>
          </a:solidFill>
          <a:ln w="12700">
            <a:solidFill>
              <a:srgbClr val="4A90D9"/>
            </a:solidFill>
            <a:prstDash val="solid"/>
          </a:ln>
        </p:spPr>
      </p:sp>
      <p:sp>
        <p:nvSpPr>
          <p:cNvPr id="23" name="Text 21"/>
          <p:cNvSpPr/>
          <p:nvPr/>
        </p:nvSpPr>
        <p:spPr>
          <a:xfrm>
            <a:off x="6460236" y="1536192"/>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Full title, authors, category chips</a:t>
            </a:r>
            <a:endParaRPr lang="en-US" sz="1300" dirty="0"/>
          </a:p>
        </p:txBody>
      </p:sp>
      <p:sp>
        <p:nvSpPr>
          <p:cNvPr id="24" name="Shape 22"/>
          <p:cNvSpPr/>
          <p:nvPr/>
        </p:nvSpPr>
        <p:spPr>
          <a:xfrm>
            <a:off x="6323076" y="2203704"/>
            <a:ext cx="64008" cy="64008"/>
          </a:xfrm>
          <a:prstGeom prst="rect">
            <a:avLst/>
          </a:prstGeom>
          <a:solidFill>
            <a:srgbClr val="4A90D9"/>
          </a:solidFill>
          <a:ln w="12700">
            <a:solidFill>
              <a:srgbClr val="4A90D9"/>
            </a:solidFill>
            <a:prstDash val="solid"/>
          </a:ln>
        </p:spPr>
      </p:sp>
      <p:sp>
        <p:nvSpPr>
          <p:cNvPr id="25" name="Text 23"/>
          <p:cNvSpPr/>
          <p:nvPr/>
        </p:nvSpPr>
        <p:spPr>
          <a:xfrm>
            <a:off x="6460236" y="2157984"/>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Complete abstract</a:t>
            </a:r>
            <a:endParaRPr lang="en-US" sz="1300" dirty="0"/>
          </a:p>
        </p:txBody>
      </p:sp>
      <p:sp>
        <p:nvSpPr>
          <p:cNvPr id="26" name="Shape 24"/>
          <p:cNvSpPr/>
          <p:nvPr/>
        </p:nvSpPr>
        <p:spPr>
          <a:xfrm>
            <a:off x="6323076" y="2825496"/>
            <a:ext cx="64008" cy="64008"/>
          </a:xfrm>
          <a:prstGeom prst="rect">
            <a:avLst/>
          </a:prstGeom>
          <a:solidFill>
            <a:srgbClr val="4A90D9"/>
          </a:solidFill>
          <a:ln w="12700">
            <a:solidFill>
              <a:srgbClr val="4A90D9"/>
            </a:solidFill>
            <a:prstDash val="solid"/>
          </a:ln>
        </p:spPr>
      </p:sp>
      <p:sp>
        <p:nvSpPr>
          <p:cNvPr id="27" name="Text 25"/>
          <p:cNvSpPr/>
          <p:nvPr/>
        </p:nvSpPr>
        <p:spPr>
          <a:xfrm>
            <a:off x="6460236" y="2779776"/>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"View on arXiv" and "Open PDF" buttons</a:t>
            </a:r>
            <a:endParaRPr lang="en-US" sz="1300" dirty="0"/>
          </a:p>
        </p:txBody>
      </p:sp>
      <p:sp>
        <p:nvSpPr>
          <p:cNvPr id="28" name="Shape 26"/>
          <p:cNvSpPr/>
          <p:nvPr/>
        </p:nvSpPr>
        <p:spPr>
          <a:xfrm>
            <a:off x="6323076" y="3447288"/>
            <a:ext cx="64008" cy="64008"/>
          </a:xfrm>
          <a:prstGeom prst="rect">
            <a:avLst/>
          </a:prstGeom>
          <a:solidFill>
            <a:srgbClr val="4A90D9"/>
          </a:solidFill>
          <a:ln w="12700">
            <a:solidFill>
              <a:srgbClr val="4A90D9"/>
            </a:solidFill>
            <a:prstDash val="solid"/>
          </a:ln>
        </p:spPr>
      </p:sp>
      <p:sp>
        <p:nvSpPr>
          <p:cNvPr id="29" name="Text 27"/>
          <p:cNvSpPr/>
          <p:nvPr/>
        </p:nvSpPr>
        <p:spPr>
          <a:xfrm>
            <a:off x="6460236" y="3401568"/>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Save-to-collection from TopAppBar</a:t>
            </a:r>
            <a:endParaRPr lang="en-US" sz="1300" dirty="0"/>
          </a:p>
        </p:txBody>
      </p:sp>
      <p:sp>
        <p:nvSpPr>
          <p:cNvPr id="30" name="Shape 28"/>
          <p:cNvSpPr/>
          <p:nvPr/>
        </p:nvSpPr>
        <p:spPr>
          <a:xfrm>
            <a:off x="411480" y="3854196"/>
            <a:ext cx="5454396" cy="2756916"/>
          </a:xfrm>
          <a:prstGeom prst="rect">
            <a:avLst/>
          </a:prstGeom>
          <a:solidFill>
            <a:srgbClr val="FFFFFF"/>
          </a:solidFill>
          <a:ln w="12700">
            <a:solidFill>
              <a:srgbClr val="4A90D9"/>
            </a:solidFill>
            <a:prstDash val="solid"/>
          </a:ln>
        </p:spPr>
      </p:sp>
      <p:sp>
        <p:nvSpPr>
          <p:cNvPr id="31" name="Shape 29"/>
          <p:cNvSpPr/>
          <p:nvPr/>
        </p:nvSpPr>
        <p:spPr>
          <a:xfrm>
            <a:off x="548640" y="3963924"/>
            <a:ext cx="420624" cy="420624"/>
          </a:xfrm>
          <a:prstGeom prst="ellipse">
            <a:avLst/>
          </a:prstGeom>
          <a:solidFill>
            <a:srgbClr val="1A2B5C"/>
          </a:solidFill>
          <a:ln w="12700">
            <a:solidFill>
              <a:srgbClr val="1A2B5C"/>
            </a:solidFill>
            <a:prstDash val="solid"/>
          </a:ln>
        </p:spPr>
      </p:sp>
      <p:sp>
        <p:nvSpPr>
          <p:cNvPr id="32" name="Text 30"/>
          <p:cNvSpPr/>
          <p:nvPr/>
        </p:nvSpPr>
        <p:spPr>
          <a:xfrm>
            <a:off x="548640" y="3963924"/>
            <a:ext cx="420624" cy="420624"/>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3" name="Text 31"/>
          <p:cNvSpPr/>
          <p:nvPr/>
        </p:nvSpPr>
        <p:spPr>
          <a:xfrm>
            <a:off x="1069848" y="3963924"/>
            <a:ext cx="4631436" cy="420624"/>
          </a:xfrm>
          <a:prstGeom prst="rect">
            <a:avLst/>
          </a:prstGeom>
          <a:noFill/>
          <a:ln/>
        </p:spPr>
        <p:txBody>
          <a:bodyPr wrap="square" rtlCol="0" anchor="ctr"/>
          <a:lstStyle/>
          <a:p>
            <a:pPr indent="0" marL="0">
              <a:buNone/>
            </a:pPr>
            <a:r>
              <a:rPr lang="en-US" sz="1700" b="1" dirty="0">
                <a:solidFill>
                  <a:srgbClr val="1A2B5C"/>
                </a:solidFill>
                <a:latin typeface="Calibri" pitchFamily="34" charset="0"/>
                <a:ea typeface="Calibri" pitchFamily="34" charset="-122"/>
                <a:cs typeface="Calibri" pitchFamily="34" charset="-120"/>
              </a:rPr>
              <a:t>My Collections</a:t>
            </a:r>
            <a:endParaRPr lang="en-US" sz="1700" dirty="0"/>
          </a:p>
        </p:txBody>
      </p:sp>
      <p:sp>
        <p:nvSpPr>
          <p:cNvPr id="34" name="Shape 32"/>
          <p:cNvSpPr/>
          <p:nvPr/>
        </p:nvSpPr>
        <p:spPr>
          <a:xfrm>
            <a:off x="594360" y="4475988"/>
            <a:ext cx="64008" cy="64008"/>
          </a:xfrm>
          <a:prstGeom prst="rect">
            <a:avLst/>
          </a:prstGeom>
          <a:solidFill>
            <a:srgbClr val="4A90D9"/>
          </a:solidFill>
          <a:ln w="12700">
            <a:solidFill>
              <a:srgbClr val="4A90D9"/>
            </a:solidFill>
            <a:prstDash val="solid"/>
          </a:ln>
        </p:spPr>
      </p:sp>
      <p:sp>
        <p:nvSpPr>
          <p:cNvPr id="35" name="Text 33"/>
          <p:cNvSpPr/>
          <p:nvPr/>
        </p:nvSpPr>
        <p:spPr>
          <a:xfrm>
            <a:off x="731520" y="4430268"/>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LazyColumn with paper count badges</a:t>
            </a:r>
            <a:endParaRPr lang="en-US" sz="1300" dirty="0"/>
          </a:p>
        </p:txBody>
      </p:sp>
      <p:sp>
        <p:nvSpPr>
          <p:cNvPr id="36" name="Shape 34"/>
          <p:cNvSpPr/>
          <p:nvPr/>
        </p:nvSpPr>
        <p:spPr>
          <a:xfrm>
            <a:off x="594360" y="5097780"/>
            <a:ext cx="64008" cy="64008"/>
          </a:xfrm>
          <a:prstGeom prst="rect">
            <a:avLst/>
          </a:prstGeom>
          <a:solidFill>
            <a:srgbClr val="4A90D9"/>
          </a:solidFill>
          <a:ln w="12700">
            <a:solidFill>
              <a:srgbClr val="4A90D9"/>
            </a:solidFill>
            <a:prstDash val="solid"/>
          </a:ln>
        </p:spPr>
      </p:sp>
      <p:sp>
        <p:nvSpPr>
          <p:cNvPr id="37" name="Text 35"/>
          <p:cNvSpPr/>
          <p:nvPr/>
        </p:nvSpPr>
        <p:spPr>
          <a:xfrm>
            <a:off x="731520" y="5052060"/>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Create collection (FAB + dialog)</a:t>
            </a:r>
            <a:endParaRPr lang="en-US" sz="1300" dirty="0"/>
          </a:p>
        </p:txBody>
      </p:sp>
      <p:sp>
        <p:nvSpPr>
          <p:cNvPr id="38" name="Shape 36"/>
          <p:cNvSpPr/>
          <p:nvPr/>
        </p:nvSpPr>
        <p:spPr>
          <a:xfrm>
            <a:off x="594360" y="5719572"/>
            <a:ext cx="64008" cy="64008"/>
          </a:xfrm>
          <a:prstGeom prst="rect">
            <a:avLst/>
          </a:prstGeom>
          <a:solidFill>
            <a:srgbClr val="4A90D9"/>
          </a:solidFill>
          <a:ln w="12700">
            <a:solidFill>
              <a:srgbClr val="4A90D9"/>
            </a:solidFill>
            <a:prstDash val="solid"/>
          </a:ln>
        </p:spPr>
      </p:sp>
      <p:sp>
        <p:nvSpPr>
          <p:cNvPr id="39" name="Text 37"/>
          <p:cNvSpPr/>
          <p:nvPr/>
        </p:nvSpPr>
        <p:spPr>
          <a:xfrm>
            <a:off x="731520" y="5673852"/>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Delete with confirmation dialog</a:t>
            </a:r>
            <a:endParaRPr lang="en-US" sz="1300" dirty="0"/>
          </a:p>
        </p:txBody>
      </p:sp>
      <p:sp>
        <p:nvSpPr>
          <p:cNvPr id="40" name="Shape 38"/>
          <p:cNvSpPr/>
          <p:nvPr/>
        </p:nvSpPr>
        <p:spPr>
          <a:xfrm>
            <a:off x="594360" y="6341364"/>
            <a:ext cx="64008" cy="64008"/>
          </a:xfrm>
          <a:prstGeom prst="rect">
            <a:avLst/>
          </a:prstGeom>
          <a:solidFill>
            <a:srgbClr val="4A90D9"/>
          </a:solidFill>
          <a:ln w="12700">
            <a:solidFill>
              <a:srgbClr val="4A90D9"/>
            </a:solidFill>
            <a:prstDash val="solid"/>
          </a:ln>
        </p:spPr>
      </p:sp>
      <p:sp>
        <p:nvSpPr>
          <p:cNvPr id="41" name="Text 39"/>
          <p:cNvSpPr/>
          <p:nvPr/>
        </p:nvSpPr>
        <p:spPr>
          <a:xfrm>
            <a:off x="731520" y="6295644"/>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Reactive paper counts via Flow</a:t>
            </a:r>
            <a:endParaRPr lang="en-US" sz="1300" dirty="0"/>
          </a:p>
        </p:txBody>
      </p:sp>
      <p:sp>
        <p:nvSpPr>
          <p:cNvPr id="42" name="Shape 40"/>
          <p:cNvSpPr/>
          <p:nvPr/>
        </p:nvSpPr>
        <p:spPr>
          <a:xfrm>
            <a:off x="6140196" y="3854196"/>
            <a:ext cx="5454396" cy="2756916"/>
          </a:xfrm>
          <a:prstGeom prst="rect">
            <a:avLst/>
          </a:prstGeom>
          <a:solidFill>
            <a:srgbClr val="FFFFFF"/>
          </a:solidFill>
          <a:ln w="12700">
            <a:solidFill>
              <a:srgbClr val="4A90D9"/>
            </a:solidFill>
            <a:prstDash val="solid"/>
          </a:ln>
        </p:spPr>
      </p:sp>
      <p:sp>
        <p:nvSpPr>
          <p:cNvPr id="43" name="Shape 41"/>
          <p:cNvSpPr/>
          <p:nvPr/>
        </p:nvSpPr>
        <p:spPr>
          <a:xfrm>
            <a:off x="6277356" y="3963924"/>
            <a:ext cx="420624" cy="420624"/>
          </a:xfrm>
          <a:prstGeom prst="ellipse">
            <a:avLst/>
          </a:prstGeom>
          <a:solidFill>
            <a:srgbClr val="1A2B5C"/>
          </a:solidFill>
          <a:ln w="12700">
            <a:solidFill>
              <a:srgbClr val="1A2B5C"/>
            </a:solidFill>
            <a:prstDash val="solid"/>
          </a:ln>
        </p:spPr>
      </p:sp>
      <p:sp>
        <p:nvSpPr>
          <p:cNvPr id="44" name="Text 42"/>
          <p:cNvSpPr/>
          <p:nvPr/>
        </p:nvSpPr>
        <p:spPr>
          <a:xfrm>
            <a:off x="6277356" y="3963924"/>
            <a:ext cx="420624" cy="420624"/>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5" name="Text 43"/>
          <p:cNvSpPr/>
          <p:nvPr/>
        </p:nvSpPr>
        <p:spPr>
          <a:xfrm>
            <a:off x="6798564" y="3963924"/>
            <a:ext cx="4631436" cy="420624"/>
          </a:xfrm>
          <a:prstGeom prst="rect">
            <a:avLst/>
          </a:prstGeom>
          <a:noFill/>
          <a:ln/>
        </p:spPr>
        <p:txBody>
          <a:bodyPr wrap="square" rtlCol="0" anchor="ctr"/>
          <a:lstStyle/>
          <a:p>
            <a:pPr indent="0" marL="0">
              <a:buNone/>
            </a:pPr>
            <a:r>
              <a:rPr lang="en-US" sz="1700" b="1" dirty="0">
                <a:solidFill>
                  <a:srgbClr val="1A2B5C"/>
                </a:solidFill>
                <a:latin typeface="Calibri" pitchFamily="34" charset="0"/>
                <a:ea typeface="Calibri" pitchFamily="34" charset="-122"/>
                <a:cs typeface="Calibri" pitchFamily="34" charset="-120"/>
              </a:rPr>
              <a:t>Collection Detail</a:t>
            </a:r>
            <a:endParaRPr lang="en-US" sz="1700" dirty="0"/>
          </a:p>
        </p:txBody>
      </p:sp>
      <p:sp>
        <p:nvSpPr>
          <p:cNvPr id="46" name="Shape 44"/>
          <p:cNvSpPr/>
          <p:nvPr/>
        </p:nvSpPr>
        <p:spPr>
          <a:xfrm>
            <a:off x="6323076" y="4475988"/>
            <a:ext cx="64008" cy="64008"/>
          </a:xfrm>
          <a:prstGeom prst="rect">
            <a:avLst/>
          </a:prstGeom>
          <a:solidFill>
            <a:srgbClr val="4A90D9"/>
          </a:solidFill>
          <a:ln w="12700">
            <a:solidFill>
              <a:srgbClr val="4A90D9"/>
            </a:solidFill>
            <a:prstDash val="solid"/>
          </a:ln>
        </p:spPr>
      </p:sp>
      <p:sp>
        <p:nvSpPr>
          <p:cNvPr id="47" name="Text 45"/>
          <p:cNvSpPr/>
          <p:nvPr/>
        </p:nvSpPr>
        <p:spPr>
          <a:xfrm>
            <a:off x="6460236" y="4430268"/>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Papers ordered by save time</a:t>
            </a:r>
            <a:endParaRPr lang="en-US" sz="1300" dirty="0"/>
          </a:p>
        </p:txBody>
      </p:sp>
      <p:sp>
        <p:nvSpPr>
          <p:cNvPr id="48" name="Shape 46"/>
          <p:cNvSpPr/>
          <p:nvPr/>
        </p:nvSpPr>
        <p:spPr>
          <a:xfrm>
            <a:off x="6323076" y="5097780"/>
            <a:ext cx="64008" cy="64008"/>
          </a:xfrm>
          <a:prstGeom prst="rect">
            <a:avLst/>
          </a:prstGeom>
          <a:solidFill>
            <a:srgbClr val="4A90D9"/>
          </a:solidFill>
          <a:ln w="12700">
            <a:solidFill>
              <a:srgbClr val="4A90D9"/>
            </a:solidFill>
            <a:prstDash val="solid"/>
          </a:ln>
        </p:spPr>
      </p:sp>
      <p:sp>
        <p:nvSpPr>
          <p:cNvPr id="49" name="Text 47"/>
          <p:cNvSpPr/>
          <p:nvPr/>
        </p:nvSpPr>
        <p:spPr>
          <a:xfrm>
            <a:off x="6460236" y="5052060"/>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Remove paper from collection</a:t>
            </a:r>
            <a:endParaRPr lang="en-US" sz="1300" dirty="0"/>
          </a:p>
        </p:txBody>
      </p:sp>
      <p:sp>
        <p:nvSpPr>
          <p:cNvPr id="50" name="Shape 48"/>
          <p:cNvSpPr/>
          <p:nvPr/>
        </p:nvSpPr>
        <p:spPr>
          <a:xfrm>
            <a:off x="6323076" y="5719572"/>
            <a:ext cx="64008" cy="64008"/>
          </a:xfrm>
          <a:prstGeom prst="rect">
            <a:avLst/>
          </a:prstGeom>
          <a:solidFill>
            <a:srgbClr val="4A90D9"/>
          </a:solidFill>
          <a:ln w="12700">
            <a:solidFill>
              <a:srgbClr val="4A90D9"/>
            </a:solidFill>
            <a:prstDash val="solid"/>
          </a:ln>
        </p:spPr>
      </p:sp>
      <p:sp>
        <p:nvSpPr>
          <p:cNvPr id="51" name="Text 49"/>
          <p:cNvSpPr/>
          <p:nvPr/>
        </p:nvSpPr>
        <p:spPr>
          <a:xfrm>
            <a:off x="6460236" y="5673852"/>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Open on arXiv from list</a:t>
            </a:r>
            <a:endParaRPr lang="en-US" sz="1300" dirty="0"/>
          </a:p>
        </p:txBody>
      </p:sp>
      <p:sp>
        <p:nvSpPr>
          <p:cNvPr id="52" name="Shape 50"/>
          <p:cNvSpPr/>
          <p:nvPr/>
        </p:nvSpPr>
        <p:spPr>
          <a:xfrm>
            <a:off x="6323076" y="6341364"/>
            <a:ext cx="64008" cy="64008"/>
          </a:xfrm>
          <a:prstGeom prst="rect">
            <a:avLst/>
          </a:prstGeom>
          <a:solidFill>
            <a:srgbClr val="4A90D9"/>
          </a:solidFill>
          <a:ln w="12700">
            <a:solidFill>
              <a:srgbClr val="4A90D9"/>
            </a:solidFill>
            <a:prstDash val="solid"/>
          </a:ln>
        </p:spPr>
      </p:sp>
      <p:sp>
        <p:nvSpPr>
          <p:cNvPr id="53" name="Text 51"/>
          <p:cNvSpPr/>
          <p:nvPr/>
        </p:nvSpPr>
        <p:spPr>
          <a:xfrm>
            <a:off x="6460236" y="6295644"/>
            <a:ext cx="4997196" cy="594360"/>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Export BibTeX (Extended FAB) + Share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Expected Impact: Before &amp; After</a:t>
            </a:r>
            <a:endParaRPr lang="en-US" sz="2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11365992" cy="3383280"/>
        </p:xfrm>
        <a:graphic>
          <a:graphicData uri="http://schemas.openxmlformats.org/drawingml/2006/table">
            <a:tbl>
              <a:tblPr/>
              <a:tblGrid>
                <a:gridCol w="2377440"/>
                <a:gridCol w="4297680"/>
                <a:gridCol w="429768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Workflow Step</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A2B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Before ArxivLens</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B71C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With ArxivLens</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B5E20"/>
                    </a:solidFill>
                  </a:tcPr>
                </a:tc>
              </a:tr>
              <a:tr h="56692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Find papers</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Multiple browser tabs</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Single in-app search</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Read abstract</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Open each tab individually</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In-app detail screen</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Save paper</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Browser bookmark or notes app</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One tap → named collection</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Build BibTeX</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Manual copy-paste (error-prone)</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One tap → .bib file</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Send to Overleaf</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Manual upload / copy-paste</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Share sheet → Drive / email</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4453128"/>
            <a:ext cx="3544824" cy="2240280"/>
          </a:xfrm>
          <a:prstGeom prst="rect">
            <a:avLst/>
          </a:prstGeom>
          <a:solidFill>
            <a:srgbClr val="FFFFFF"/>
          </a:solidFill>
          <a:ln w="12700">
            <a:solidFill>
              <a:srgbClr val="CADCFC"/>
            </a:solidFill>
            <a:prstDash val="solid"/>
          </a:ln>
        </p:spPr>
      </p:sp>
      <p:sp>
        <p:nvSpPr>
          <p:cNvPr id="8" name="Shape 5"/>
          <p:cNvSpPr/>
          <p:nvPr/>
        </p:nvSpPr>
        <p:spPr>
          <a:xfrm>
            <a:off x="411480" y="4453128"/>
            <a:ext cx="3544824" cy="54864"/>
          </a:xfrm>
          <a:prstGeom prst="rect">
            <a:avLst/>
          </a:prstGeom>
          <a:solidFill>
            <a:srgbClr val="4A90D9"/>
          </a:solidFill>
          <a:ln w="12700">
            <a:solidFill>
              <a:srgbClr val="4A90D9"/>
            </a:solidFill>
            <a:prstDash val="solid"/>
          </a:ln>
        </p:spPr>
      </p:sp>
      <p:sp>
        <p:nvSpPr>
          <p:cNvPr id="9" name="Text 6"/>
          <p:cNvSpPr/>
          <p:nvPr/>
        </p:nvSpPr>
        <p:spPr>
          <a:xfrm>
            <a:off x="548640" y="4599432"/>
            <a:ext cx="3316224" cy="384048"/>
          </a:xfrm>
          <a:prstGeom prst="rect">
            <a:avLst/>
          </a:prstGeom>
          <a:noFill/>
          <a:ln/>
        </p:spPr>
        <p:txBody>
          <a:bodyPr wrap="square" rtlCol="0" anchor="ctr"/>
          <a:lstStyle/>
          <a:p>
            <a:pPr indent="0" marL="0">
              <a:buNone/>
            </a:pPr>
            <a:r>
              <a:rPr lang="en-US" sz="1500" b="1" dirty="0">
                <a:solidFill>
                  <a:srgbClr val="1A2B5C"/>
                </a:solidFill>
                <a:latin typeface="Calibri" pitchFamily="34" charset="0"/>
                <a:ea typeface="Calibri" pitchFamily="34" charset="-122"/>
                <a:cs typeface="Calibri" pitchFamily="34" charset="-120"/>
              </a:rPr>
              <a:t>Saves Time</a:t>
            </a:r>
            <a:endParaRPr lang="en-US" sz="1500" dirty="0"/>
          </a:p>
        </p:txBody>
      </p:sp>
      <p:sp>
        <p:nvSpPr>
          <p:cNvPr id="10" name="Text 7"/>
          <p:cNvSpPr/>
          <p:nvPr/>
        </p:nvSpPr>
        <p:spPr>
          <a:xfrm>
            <a:off x="548640" y="5020056"/>
            <a:ext cx="3316224" cy="158191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Literature review citation work reduced from hours to minutes.</a:t>
            </a:r>
            <a:endParaRPr lang="en-US" sz="1300" dirty="0"/>
          </a:p>
        </p:txBody>
      </p:sp>
      <p:sp>
        <p:nvSpPr>
          <p:cNvPr id="11" name="Shape 8"/>
          <p:cNvSpPr/>
          <p:nvPr/>
        </p:nvSpPr>
        <p:spPr>
          <a:xfrm>
            <a:off x="4184904" y="4453128"/>
            <a:ext cx="3544824" cy="2240280"/>
          </a:xfrm>
          <a:prstGeom prst="rect">
            <a:avLst/>
          </a:prstGeom>
          <a:solidFill>
            <a:srgbClr val="FFFFFF"/>
          </a:solidFill>
          <a:ln w="12700">
            <a:solidFill>
              <a:srgbClr val="CADCFC"/>
            </a:solidFill>
            <a:prstDash val="solid"/>
          </a:ln>
        </p:spPr>
      </p:sp>
      <p:sp>
        <p:nvSpPr>
          <p:cNvPr id="12" name="Shape 9"/>
          <p:cNvSpPr/>
          <p:nvPr/>
        </p:nvSpPr>
        <p:spPr>
          <a:xfrm>
            <a:off x="4184904" y="4453128"/>
            <a:ext cx="3544824" cy="54864"/>
          </a:xfrm>
          <a:prstGeom prst="rect">
            <a:avLst/>
          </a:prstGeom>
          <a:solidFill>
            <a:srgbClr val="4A90D9"/>
          </a:solidFill>
          <a:ln w="12700">
            <a:solidFill>
              <a:srgbClr val="4A90D9"/>
            </a:solidFill>
            <a:prstDash val="solid"/>
          </a:ln>
        </p:spPr>
      </p:sp>
      <p:sp>
        <p:nvSpPr>
          <p:cNvPr id="13" name="Text 10"/>
          <p:cNvSpPr/>
          <p:nvPr/>
        </p:nvSpPr>
        <p:spPr>
          <a:xfrm>
            <a:off x="4322064" y="4599432"/>
            <a:ext cx="3316224" cy="384048"/>
          </a:xfrm>
          <a:prstGeom prst="rect">
            <a:avLst/>
          </a:prstGeom>
          <a:noFill/>
          <a:ln/>
        </p:spPr>
        <p:txBody>
          <a:bodyPr wrap="square" rtlCol="0" anchor="ctr"/>
          <a:lstStyle/>
          <a:p>
            <a:pPr indent="0" marL="0">
              <a:buNone/>
            </a:pPr>
            <a:r>
              <a:rPr lang="en-US" sz="1500" b="1" dirty="0">
                <a:solidFill>
                  <a:srgbClr val="1A2B5C"/>
                </a:solidFill>
                <a:latin typeface="Calibri" pitchFamily="34" charset="0"/>
                <a:ea typeface="Calibri" pitchFamily="34" charset="-122"/>
                <a:cs typeface="Calibri" pitchFamily="34" charset="-120"/>
              </a:rPr>
              <a:t>Reduces Errors</a:t>
            </a:r>
            <a:endParaRPr lang="en-US" sz="1500" dirty="0"/>
          </a:p>
        </p:txBody>
      </p:sp>
      <p:sp>
        <p:nvSpPr>
          <p:cNvPr id="14" name="Text 11"/>
          <p:cNvSpPr/>
          <p:nvPr/>
        </p:nvSpPr>
        <p:spPr>
          <a:xfrm>
            <a:off x="4322064" y="5020056"/>
            <a:ext cx="3316224" cy="158191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BibTeX generated from structured data — not typed by hand.</a:t>
            </a:r>
            <a:endParaRPr lang="en-US" sz="1300" dirty="0"/>
          </a:p>
        </p:txBody>
      </p:sp>
      <p:sp>
        <p:nvSpPr>
          <p:cNvPr id="15" name="Shape 12"/>
          <p:cNvSpPr/>
          <p:nvPr/>
        </p:nvSpPr>
        <p:spPr>
          <a:xfrm>
            <a:off x="7958328" y="4453128"/>
            <a:ext cx="3544824" cy="2240280"/>
          </a:xfrm>
          <a:prstGeom prst="rect">
            <a:avLst/>
          </a:prstGeom>
          <a:solidFill>
            <a:srgbClr val="FFFFFF"/>
          </a:solidFill>
          <a:ln w="12700">
            <a:solidFill>
              <a:srgbClr val="CADCFC"/>
            </a:solidFill>
            <a:prstDash val="solid"/>
          </a:ln>
        </p:spPr>
      </p:sp>
      <p:sp>
        <p:nvSpPr>
          <p:cNvPr id="16" name="Shape 13"/>
          <p:cNvSpPr/>
          <p:nvPr/>
        </p:nvSpPr>
        <p:spPr>
          <a:xfrm>
            <a:off x="7958328" y="4453128"/>
            <a:ext cx="3544824" cy="54864"/>
          </a:xfrm>
          <a:prstGeom prst="rect">
            <a:avLst/>
          </a:prstGeom>
          <a:solidFill>
            <a:srgbClr val="4A90D9"/>
          </a:solidFill>
          <a:ln w="12700">
            <a:solidFill>
              <a:srgbClr val="4A90D9"/>
            </a:solidFill>
            <a:prstDash val="solid"/>
          </a:ln>
        </p:spPr>
      </p:sp>
      <p:sp>
        <p:nvSpPr>
          <p:cNvPr id="17" name="Text 14"/>
          <p:cNvSpPr/>
          <p:nvPr/>
        </p:nvSpPr>
        <p:spPr>
          <a:xfrm>
            <a:off x="8095488" y="4599432"/>
            <a:ext cx="3316224" cy="384048"/>
          </a:xfrm>
          <a:prstGeom prst="rect">
            <a:avLst/>
          </a:prstGeom>
          <a:noFill/>
          <a:ln/>
        </p:spPr>
        <p:txBody>
          <a:bodyPr wrap="square" rtlCol="0" anchor="ctr"/>
          <a:lstStyle/>
          <a:p>
            <a:pPr indent="0" marL="0">
              <a:buNone/>
            </a:pPr>
            <a:r>
              <a:rPr lang="en-US" sz="1500" b="1" dirty="0">
                <a:solidFill>
                  <a:srgbClr val="1A2B5C"/>
                </a:solidFill>
                <a:latin typeface="Calibri" pitchFamily="34" charset="0"/>
                <a:ea typeface="Calibri" pitchFamily="34" charset="-122"/>
                <a:cs typeface="Calibri" pitchFamily="34" charset="-120"/>
              </a:rPr>
              <a:t>Works Offline</a:t>
            </a:r>
            <a:endParaRPr lang="en-US" sz="1500" dirty="0"/>
          </a:p>
        </p:txBody>
      </p:sp>
      <p:sp>
        <p:nvSpPr>
          <p:cNvPr id="18" name="Text 15"/>
          <p:cNvSpPr/>
          <p:nvPr/>
        </p:nvSpPr>
        <p:spPr>
          <a:xfrm>
            <a:off x="8095488" y="5020056"/>
            <a:ext cx="3316224" cy="158191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Saved collections and abstracts accessible without internet.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Expected Impact: Current Limitations</a:t>
            </a:r>
            <a:endParaRPr lang="en-US" sz="2500" dirty="0"/>
          </a:p>
        </p:txBody>
      </p:sp>
      <p:sp>
        <p:nvSpPr>
          <p:cNvPr id="6" name="Shape 4"/>
          <p:cNvSpPr/>
          <p:nvPr/>
        </p:nvSpPr>
        <p:spPr>
          <a:xfrm>
            <a:off x="411480" y="960120"/>
            <a:ext cx="3544824" cy="2756916"/>
          </a:xfrm>
          <a:prstGeom prst="rect">
            <a:avLst/>
          </a:prstGeom>
          <a:solidFill>
            <a:srgbClr val="FFFFFF"/>
          </a:solidFill>
          <a:ln w="12700">
            <a:solidFill>
              <a:srgbClr val="3B82F6"/>
            </a:solidFill>
            <a:prstDash val="solid"/>
          </a:ln>
        </p:spPr>
      </p:sp>
      <p:sp>
        <p:nvSpPr>
          <p:cNvPr id="7" name="Text 5"/>
          <p:cNvSpPr/>
          <p:nvPr/>
        </p:nvSpPr>
        <p:spPr>
          <a:xfrm>
            <a:off x="576072" y="1069848"/>
            <a:ext cx="3288792" cy="384048"/>
          </a:xfrm>
          <a:prstGeom prst="rect">
            <a:avLst/>
          </a:prstGeom>
          <a:noFill/>
          <a:ln/>
        </p:spPr>
        <p:txBody>
          <a:bodyPr wrap="square" rtlCol="0" anchor="ctr"/>
          <a:lstStyle/>
          <a:p>
            <a:pPr indent="0" marL="0">
              <a:buNone/>
            </a:pPr>
            <a:r>
              <a:rPr lang="en-US" sz="1400" b="1" dirty="0">
                <a:solidFill>
                  <a:srgbClr val="1A2B5C"/>
                </a:solidFill>
                <a:latin typeface="Calibri" pitchFamily="34" charset="0"/>
                <a:ea typeface="Calibri" pitchFamily="34" charset="-122"/>
                <a:cs typeface="Calibri" pitchFamily="34" charset="-120"/>
              </a:rPr>
              <a:t>Internet required for search</a:t>
            </a:r>
            <a:endParaRPr lang="en-US" sz="1400" dirty="0"/>
          </a:p>
        </p:txBody>
      </p:sp>
      <p:sp>
        <p:nvSpPr>
          <p:cNvPr id="8" name="Text 6"/>
          <p:cNvSpPr/>
          <p:nvPr/>
        </p:nvSpPr>
        <p:spPr>
          <a:xfrm>
            <a:off x="576072" y="1508760"/>
            <a:ext cx="3288792" cy="2098548"/>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The arXiv Atom API is remote. Search results cannot be fetched offline — only saved papers are available without a connection.</a:t>
            </a:r>
            <a:endParaRPr lang="en-US" sz="1300" dirty="0"/>
          </a:p>
        </p:txBody>
      </p:sp>
      <p:sp>
        <p:nvSpPr>
          <p:cNvPr id="9" name="Shape 7"/>
          <p:cNvSpPr/>
          <p:nvPr/>
        </p:nvSpPr>
        <p:spPr>
          <a:xfrm>
            <a:off x="4157472" y="960120"/>
            <a:ext cx="3544824" cy="2756916"/>
          </a:xfrm>
          <a:prstGeom prst="rect">
            <a:avLst/>
          </a:prstGeom>
          <a:solidFill>
            <a:srgbClr val="FFFFFF"/>
          </a:solidFill>
          <a:ln w="12700">
            <a:solidFill>
              <a:srgbClr val="3B82F6"/>
            </a:solidFill>
            <a:prstDash val="solid"/>
          </a:ln>
        </p:spPr>
      </p:sp>
      <p:sp>
        <p:nvSpPr>
          <p:cNvPr id="10" name="Text 8"/>
          <p:cNvSpPr/>
          <p:nvPr/>
        </p:nvSpPr>
        <p:spPr>
          <a:xfrm>
            <a:off x="4322064" y="1069848"/>
            <a:ext cx="3288792" cy="384048"/>
          </a:xfrm>
          <a:prstGeom prst="rect">
            <a:avLst/>
          </a:prstGeom>
          <a:noFill/>
          <a:ln/>
        </p:spPr>
        <p:txBody>
          <a:bodyPr wrap="square" rtlCol="0" anchor="ctr"/>
          <a:lstStyle/>
          <a:p>
            <a:pPr indent="0" marL="0">
              <a:buNone/>
            </a:pPr>
            <a:r>
              <a:rPr lang="en-US" sz="1400" b="1" dirty="0">
                <a:solidFill>
                  <a:srgbClr val="1A2B5C"/>
                </a:solidFill>
                <a:latin typeface="Calibri" pitchFamily="34" charset="0"/>
                <a:ea typeface="Calibri" pitchFamily="34" charset="-122"/>
                <a:cs typeface="Calibri" pitchFamily="34" charset="-120"/>
              </a:rPr>
              <a:t>Local storage only</a:t>
            </a:r>
            <a:endParaRPr lang="en-US" sz="1400" dirty="0"/>
          </a:p>
        </p:txBody>
      </p:sp>
      <p:sp>
        <p:nvSpPr>
          <p:cNvPr id="11" name="Text 9"/>
          <p:cNvSpPr/>
          <p:nvPr/>
        </p:nvSpPr>
        <p:spPr>
          <a:xfrm>
            <a:off x="4322064" y="1508760"/>
            <a:ext cx="3288792" cy="2098548"/>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Collections live in on-device SQLite. No cross-device sync or cloud backup. Uninstalling the app loses all saved data.</a:t>
            </a:r>
            <a:endParaRPr lang="en-US" sz="1300" dirty="0"/>
          </a:p>
        </p:txBody>
      </p:sp>
      <p:sp>
        <p:nvSpPr>
          <p:cNvPr id="12" name="Shape 10"/>
          <p:cNvSpPr/>
          <p:nvPr/>
        </p:nvSpPr>
        <p:spPr>
          <a:xfrm>
            <a:off x="7903464" y="960120"/>
            <a:ext cx="3544824" cy="2756916"/>
          </a:xfrm>
          <a:prstGeom prst="rect">
            <a:avLst/>
          </a:prstGeom>
          <a:solidFill>
            <a:srgbClr val="FFFFFF"/>
          </a:solidFill>
          <a:ln w="12700">
            <a:solidFill>
              <a:srgbClr val="3B82F6"/>
            </a:solidFill>
            <a:prstDash val="solid"/>
          </a:ln>
        </p:spPr>
      </p:sp>
      <p:sp>
        <p:nvSpPr>
          <p:cNvPr id="13" name="Text 11"/>
          <p:cNvSpPr/>
          <p:nvPr/>
        </p:nvSpPr>
        <p:spPr>
          <a:xfrm>
            <a:off x="8068056" y="1069848"/>
            <a:ext cx="3288792" cy="384048"/>
          </a:xfrm>
          <a:prstGeom prst="rect">
            <a:avLst/>
          </a:prstGeom>
          <a:noFill/>
          <a:ln/>
        </p:spPr>
        <p:txBody>
          <a:bodyPr wrap="square" rtlCol="0" anchor="ctr"/>
          <a:lstStyle/>
          <a:p>
            <a:pPr indent="0" marL="0">
              <a:buNone/>
            </a:pPr>
            <a:r>
              <a:rPr lang="en-US" sz="1400" b="1" dirty="0">
                <a:solidFill>
                  <a:srgbClr val="1A2B5C"/>
                </a:solidFill>
                <a:latin typeface="Calibri" pitchFamily="34" charset="0"/>
                <a:ea typeface="Calibri" pitchFamily="34" charset="-122"/>
                <a:cs typeface="Calibri" pitchFamily="34" charset="-120"/>
              </a:rPr>
              <a:t>All-fields search only</a:t>
            </a:r>
            <a:endParaRPr lang="en-US" sz="1400" dirty="0"/>
          </a:p>
        </p:txBody>
      </p:sp>
      <p:sp>
        <p:nvSpPr>
          <p:cNvPr id="14" name="Text 12"/>
          <p:cNvSpPr/>
          <p:nvPr/>
        </p:nvSpPr>
        <p:spPr>
          <a:xfrm>
            <a:off x="8068056" y="1508760"/>
            <a:ext cx="3288792" cy="2098548"/>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No dedicated author (au:), category (cat:), or date-range filters. Searches the full metadata text.</a:t>
            </a:r>
            <a:endParaRPr lang="en-US" sz="1300" dirty="0"/>
          </a:p>
        </p:txBody>
      </p:sp>
      <p:sp>
        <p:nvSpPr>
          <p:cNvPr id="15" name="Shape 13"/>
          <p:cNvSpPr/>
          <p:nvPr/>
        </p:nvSpPr>
        <p:spPr>
          <a:xfrm>
            <a:off x="411480" y="3881628"/>
            <a:ext cx="5481828" cy="2756916"/>
          </a:xfrm>
          <a:prstGeom prst="rect">
            <a:avLst/>
          </a:prstGeom>
          <a:solidFill>
            <a:srgbClr val="FFFFFF"/>
          </a:solidFill>
          <a:ln w="12700">
            <a:solidFill>
              <a:srgbClr val="3B82F6"/>
            </a:solidFill>
            <a:prstDash val="solid"/>
          </a:ln>
        </p:spPr>
      </p:sp>
      <p:sp>
        <p:nvSpPr>
          <p:cNvPr id="16" name="Text 14"/>
          <p:cNvSpPr/>
          <p:nvPr/>
        </p:nvSpPr>
        <p:spPr>
          <a:xfrm>
            <a:off x="576072" y="3991356"/>
            <a:ext cx="5225796" cy="384048"/>
          </a:xfrm>
          <a:prstGeom prst="rect">
            <a:avLst/>
          </a:prstGeom>
          <a:noFill/>
          <a:ln/>
        </p:spPr>
        <p:txBody>
          <a:bodyPr wrap="square" rtlCol="0" anchor="ctr"/>
          <a:lstStyle/>
          <a:p>
            <a:pPr indent="0" marL="0">
              <a:buNone/>
            </a:pPr>
            <a:r>
              <a:rPr lang="en-US" sz="1400" b="1" dirty="0">
                <a:solidFill>
                  <a:srgbClr val="1A2B5C"/>
                </a:solidFill>
                <a:latin typeface="Calibri" pitchFamily="34" charset="0"/>
                <a:ea typeface="Calibri" pitchFamily="34" charset="-122"/>
                <a:cs typeface="Calibri" pitchFamily="34" charset="-120"/>
              </a:rPr>
              <a:t>No offline abstract cache</a:t>
            </a:r>
            <a:endParaRPr lang="en-US" sz="1400" dirty="0"/>
          </a:p>
        </p:txBody>
      </p:sp>
      <p:sp>
        <p:nvSpPr>
          <p:cNvPr id="17" name="Text 15"/>
          <p:cNvSpPr/>
          <p:nvPr/>
        </p:nvSpPr>
        <p:spPr>
          <a:xfrm>
            <a:off x="576072" y="4430268"/>
            <a:ext cx="5225796" cy="2098548"/>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Saved papers link back to arXiv for the full abstract. Abstract text is not stored locally in Room.</a:t>
            </a:r>
            <a:endParaRPr lang="en-US" sz="1300" dirty="0"/>
          </a:p>
        </p:txBody>
      </p:sp>
      <p:sp>
        <p:nvSpPr>
          <p:cNvPr id="18" name="Shape 16"/>
          <p:cNvSpPr/>
          <p:nvPr/>
        </p:nvSpPr>
        <p:spPr>
          <a:xfrm>
            <a:off x="6094476" y="3881628"/>
            <a:ext cx="5481828" cy="2756916"/>
          </a:xfrm>
          <a:prstGeom prst="rect">
            <a:avLst/>
          </a:prstGeom>
          <a:solidFill>
            <a:srgbClr val="FFFFFF"/>
          </a:solidFill>
          <a:ln w="12700">
            <a:solidFill>
              <a:srgbClr val="3B82F6"/>
            </a:solidFill>
            <a:prstDash val="solid"/>
          </a:ln>
        </p:spPr>
      </p:sp>
      <p:sp>
        <p:nvSpPr>
          <p:cNvPr id="19" name="Text 17"/>
          <p:cNvSpPr/>
          <p:nvPr/>
        </p:nvSpPr>
        <p:spPr>
          <a:xfrm>
            <a:off x="6259068" y="3991356"/>
            <a:ext cx="5225796" cy="384048"/>
          </a:xfrm>
          <a:prstGeom prst="rect">
            <a:avLst/>
          </a:prstGeom>
          <a:noFill/>
          <a:ln/>
        </p:spPr>
        <p:txBody>
          <a:bodyPr wrap="square" rtlCol="0" anchor="ctr"/>
          <a:lstStyle/>
          <a:p>
            <a:pPr indent="0" marL="0">
              <a:buNone/>
            </a:pPr>
            <a:r>
              <a:rPr lang="en-US" sz="1400" b="1" dirty="0">
                <a:solidFill>
                  <a:srgbClr val="1A2B5C"/>
                </a:solidFill>
                <a:latin typeface="Calibri" pitchFamily="34" charset="0"/>
                <a:ea typeface="Calibri" pitchFamily="34" charset="-122"/>
                <a:cs typeface="Calibri" pitchFamily="34" charset="-120"/>
              </a:rPr>
              <a:t>No unit tests yet</a:t>
            </a:r>
            <a:endParaRPr lang="en-US" sz="1400" dirty="0"/>
          </a:p>
        </p:txBody>
      </p:sp>
      <p:sp>
        <p:nvSpPr>
          <p:cNvPr id="20" name="Text 18"/>
          <p:cNvSpPr/>
          <p:nvPr/>
        </p:nvSpPr>
        <p:spPr>
          <a:xfrm>
            <a:off x="6259068" y="4430268"/>
            <a:ext cx="5225796" cy="2098548"/>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Pure functions (ArxivXmlParser, BibTexExporter, FpUtils) are ready for JUnit testing but no test files have been written.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Prototype Demo: Live Walkthrough</a:t>
            </a:r>
            <a:endParaRPr lang="en-US" sz="2500" dirty="0"/>
          </a:p>
        </p:txBody>
      </p:sp>
      <p:sp>
        <p:nvSpPr>
          <p:cNvPr id="6" name="Shape 4"/>
          <p:cNvSpPr/>
          <p:nvPr/>
        </p:nvSpPr>
        <p:spPr>
          <a:xfrm>
            <a:off x="411480" y="960120"/>
            <a:ext cx="5454396" cy="1341882"/>
          </a:xfrm>
          <a:prstGeom prst="rect">
            <a:avLst/>
          </a:prstGeom>
          <a:solidFill>
            <a:srgbClr val="FFFFFF"/>
          </a:solidFill>
          <a:ln w="12700">
            <a:solidFill>
              <a:srgbClr val="CADCFC"/>
            </a:solidFill>
            <a:prstDash val="solid"/>
          </a:ln>
        </p:spPr>
      </p:sp>
      <p:sp>
        <p:nvSpPr>
          <p:cNvPr id="7" name="Shape 5"/>
          <p:cNvSpPr/>
          <p:nvPr/>
        </p:nvSpPr>
        <p:spPr>
          <a:xfrm>
            <a:off x="521208" y="1429893"/>
            <a:ext cx="402336" cy="402336"/>
          </a:xfrm>
          <a:prstGeom prst="ellipse">
            <a:avLst/>
          </a:prstGeom>
          <a:solidFill>
            <a:srgbClr val="4A90D9"/>
          </a:solidFill>
          <a:ln w="12700">
            <a:solidFill>
              <a:srgbClr val="4A90D9"/>
            </a:solidFill>
            <a:prstDash val="solid"/>
          </a:ln>
        </p:spPr>
      </p:sp>
      <p:sp>
        <p:nvSpPr>
          <p:cNvPr id="8" name="Text 6"/>
          <p:cNvSpPr/>
          <p:nvPr/>
        </p:nvSpPr>
        <p:spPr>
          <a:xfrm>
            <a:off x="521208" y="1429893"/>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005840" y="1033272"/>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Search</a:t>
            </a:r>
            <a:endParaRPr lang="en-US" sz="1300" dirty="0"/>
          </a:p>
        </p:txBody>
      </p:sp>
      <p:sp>
        <p:nvSpPr>
          <p:cNvPr id="10" name="Text 8"/>
          <p:cNvSpPr/>
          <p:nvPr/>
        </p:nvSpPr>
        <p:spPr>
          <a:xfrm>
            <a:off x="1005840" y="1307592"/>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Type "graph neural networks" → tap Search</a:t>
            </a:r>
            <a:endParaRPr lang="en-US" sz="1250" dirty="0"/>
          </a:p>
        </p:txBody>
      </p:sp>
      <p:sp>
        <p:nvSpPr>
          <p:cNvPr id="11" name="Shape 9"/>
          <p:cNvSpPr/>
          <p:nvPr/>
        </p:nvSpPr>
        <p:spPr>
          <a:xfrm>
            <a:off x="6140196" y="960120"/>
            <a:ext cx="5454396" cy="1341882"/>
          </a:xfrm>
          <a:prstGeom prst="rect">
            <a:avLst/>
          </a:prstGeom>
          <a:solidFill>
            <a:srgbClr val="FFFFFF"/>
          </a:solidFill>
          <a:ln w="12700">
            <a:solidFill>
              <a:srgbClr val="CADCFC"/>
            </a:solidFill>
            <a:prstDash val="solid"/>
          </a:ln>
        </p:spPr>
      </p:sp>
      <p:sp>
        <p:nvSpPr>
          <p:cNvPr id="12" name="Shape 10"/>
          <p:cNvSpPr/>
          <p:nvPr/>
        </p:nvSpPr>
        <p:spPr>
          <a:xfrm>
            <a:off x="6249924" y="1429893"/>
            <a:ext cx="402336" cy="402336"/>
          </a:xfrm>
          <a:prstGeom prst="ellipse">
            <a:avLst/>
          </a:prstGeom>
          <a:solidFill>
            <a:srgbClr val="4A90D9"/>
          </a:solidFill>
          <a:ln w="12700">
            <a:solidFill>
              <a:srgbClr val="4A90D9"/>
            </a:solidFill>
            <a:prstDash val="solid"/>
          </a:ln>
        </p:spPr>
      </p:sp>
      <p:sp>
        <p:nvSpPr>
          <p:cNvPr id="13" name="Text 11"/>
          <p:cNvSpPr/>
          <p:nvPr/>
        </p:nvSpPr>
        <p:spPr>
          <a:xfrm>
            <a:off x="6249924" y="1429893"/>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6734556" y="1033272"/>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Sort</a:t>
            </a:r>
            <a:endParaRPr lang="en-US" sz="1300" dirty="0"/>
          </a:p>
        </p:txBody>
      </p:sp>
      <p:sp>
        <p:nvSpPr>
          <p:cNvPr id="15" name="Text 13"/>
          <p:cNvSpPr/>
          <p:nvPr/>
        </p:nvSpPr>
        <p:spPr>
          <a:xfrm>
            <a:off x="6734556" y="1307592"/>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Sort icon → "Newest first"</a:t>
            </a:r>
            <a:endParaRPr lang="en-US" sz="1250" dirty="0"/>
          </a:p>
        </p:txBody>
      </p:sp>
      <p:sp>
        <p:nvSpPr>
          <p:cNvPr id="16" name="Shape 14"/>
          <p:cNvSpPr/>
          <p:nvPr/>
        </p:nvSpPr>
        <p:spPr>
          <a:xfrm>
            <a:off x="411480" y="2393442"/>
            <a:ext cx="5454396" cy="1341882"/>
          </a:xfrm>
          <a:prstGeom prst="rect">
            <a:avLst/>
          </a:prstGeom>
          <a:solidFill>
            <a:srgbClr val="FFFFFF"/>
          </a:solidFill>
          <a:ln w="12700">
            <a:solidFill>
              <a:srgbClr val="CADCFC"/>
            </a:solidFill>
            <a:prstDash val="solid"/>
          </a:ln>
        </p:spPr>
      </p:sp>
      <p:sp>
        <p:nvSpPr>
          <p:cNvPr id="17" name="Shape 15"/>
          <p:cNvSpPr/>
          <p:nvPr/>
        </p:nvSpPr>
        <p:spPr>
          <a:xfrm>
            <a:off x="521208" y="2863215"/>
            <a:ext cx="402336" cy="402336"/>
          </a:xfrm>
          <a:prstGeom prst="ellipse">
            <a:avLst/>
          </a:prstGeom>
          <a:solidFill>
            <a:srgbClr val="4A90D9"/>
          </a:solidFill>
          <a:ln w="12700">
            <a:solidFill>
              <a:srgbClr val="4A90D9"/>
            </a:solidFill>
            <a:prstDash val="solid"/>
          </a:ln>
        </p:spPr>
      </p:sp>
      <p:sp>
        <p:nvSpPr>
          <p:cNvPr id="18" name="Text 16"/>
          <p:cNvSpPr/>
          <p:nvPr/>
        </p:nvSpPr>
        <p:spPr>
          <a:xfrm>
            <a:off x="521208" y="2863215"/>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005840" y="2466594"/>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Paper Detail</a:t>
            </a:r>
            <a:endParaRPr lang="en-US" sz="1300" dirty="0"/>
          </a:p>
        </p:txBody>
      </p:sp>
      <p:sp>
        <p:nvSpPr>
          <p:cNvPr id="20" name="Text 18"/>
          <p:cNvSpPr/>
          <p:nvPr/>
        </p:nvSpPr>
        <p:spPr>
          <a:xfrm>
            <a:off x="1005840" y="2740914"/>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Tap result → read abstract, note category chips</a:t>
            </a:r>
            <a:endParaRPr lang="en-US" sz="1250" dirty="0"/>
          </a:p>
        </p:txBody>
      </p:sp>
      <p:sp>
        <p:nvSpPr>
          <p:cNvPr id="21" name="Shape 19"/>
          <p:cNvSpPr/>
          <p:nvPr/>
        </p:nvSpPr>
        <p:spPr>
          <a:xfrm>
            <a:off x="6140196" y="2393442"/>
            <a:ext cx="5454396" cy="1341882"/>
          </a:xfrm>
          <a:prstGeom prst="rect">
            <a:avLst/>
          </a:prstGeom>
          <a:solidFill>
            <a:srgbClr val="FFFFFF"/>
          </a:solidFill>
          <a:ln w="12700">
            <a:solidFill>
              <a:srgbClr val="CADCFC"/>
            </a:solidFill>
            <a:prstDash val="solid"/>
          </a:ln>
        </p:spPr>
      </p:sp>
      <p:sp>
        <p:nvSpPr>
          <p:cNvPr id="22" name="Shape 20"/>
          <p:cNvSpPr/>
          <p:nvPr/>
        </p:nvSpPr>
        <p:spPr>
          <a:xfrm>
            <a:off x="6249924" y="2863215"/>
            <a:ext cx="402336" cy="402336"/>
          </a:xfrm>
          <a:prstGeom prst="ellipse">
            <a:avLst/>
          </a:prstGeom>
          <a:solidFill>
            <a:srgbClr val="4A90D9"/>
          </a:solidFill>
          <a:ln w="12700">
            <a:solidFill>
              <a:srgbClr val="4A90D9"/>
            </a:solidFill>
            <a:prstDash val="solid"/>
          </a:ln>
        </p:spPr>
      </p:sp>
      <p:sp>
        <p:nvSpPr>
          <p:cNvPr id="23" name="Text 21"/>
          <p:cNvSpPr/>
          <p:nvPr/>
        </p:nvSpPr>
        <p:spPr>
          <a:xfrm>
            <a:off x="6249924" y="2863215"/>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6734556" y="2466594"/>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Save</a:t>
            </a:r>
            <a:endParaRPr lang="en-US" sz="1300" dirty="0"/>
          </a:p>
        </p:txBody>
      </p:sp>
      <p:sp>
        <p:nvSpPr>
          <p:cNvPr id="25" name="Text 23"/>
          <p:cNvSpPr/>
          <p:nvPr/>
        </p:nvSpPr>
        <p:spPr>
          <a:xfrm>
            <a:off x="6734556" y="2740914"/>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Tap bookmark → create "GNN Papers" → save</a:t>
            </a:r>
            <a:endParaRPr lang="en-US" sz="1250" dirty="0"/>
          </a:p>
        </p:txBody>
      </p:sp>
      <p:sp>
        <p:nvSpPr>
          <p:cNvPr id="26" name="Shape 24"/>
          <p:cNvSpPr/>
          <p:nvPr/>
        </p:nvSpPr>
        <p:spPr>
          <a:xfrm>
            <a:off x="411480" y="3826764"/>
            <a:ext cx="5454396" cy="1341882"/>
          </a:xfrm>
          <a:prstGeom prst="rect">
            <a:avLst/>
          </a:prstGeom>
          <a:solidFill>
            <a:srgbClr val="FFFFFF"/>
          </a:solidFill>
          <a:ln w="12700">
            <a:solidFill>
              <a:srgbClr val="CADCFC"/>
            </a:solidFill>
            <a:prstDash val="solid"/>
          </a:ln>
        </p:spPr>
      </p:sp>
      <p:sp>
        <p:nvSpPr>
          <p:cNvPr id="27" name="Shape 25"/>
          <p:cNvSpPr/>
          <p:nvPr/>
        </p:nvSpPr>
        <p:spPr>
          <a:xfrm>
            <a:off x="521208" y="4296537"/>
            <a:ext cx="402336" cy="402336"/>
          </a:xfrm>
          <a:prstGeom prst="ellipse">
            <a:avLst/>
          </a:prstGeom>
          <a:solidFill>
            <a:srgbClr val="4A90D9"/>
          </a:solidFill>
          <a:ln w="12700">
            <a:solidFill>
              <a:srgbClr val="4A90D9"/>
            </a:solidFill>
            <a:prstDash val="solid"/>
          </a:ln>
        </p:spPr>
      </p:sp>
      <p:sp>
        <p:nvSpPr>
          <p:cNvPr id="28" name="Text 26"/>
          <p:cNvSpPr/>
          <p:nvPr/>
        </p:nvSpPr>
        <p:spPr>
          <a:xfrm>
            <a:off x="521208" y="429653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005840" y="3899916"/>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Collections</a:t>
            </a:r>
            <a:endParaRPr lang="en-US" sz="1300" dirty="0"/>
          </a:p>
        </p:txBody>
      </p:sp>
      <p:sp>
        <p:nvSpPr>
          <p:cNvPr id="30" name="Text 28"/>
          <p:cNvSpPr/>
          <p:nvPr/>
        </p:nvSpPr>
        <p:spPr>
          <a:xfrm>
            <a:off x="1005840" y="4174236"/>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Switch tab → tap Collections → open "GNN Papers"</a:t>
            </a:r>
            <a:endParaRPr lang="en-US" sz="1250" dirty="0"/>
          </a:p>
        </p:txBody>
      </p:sp>
      <p:sp>
        <p:nvSpPr>
          <p:cNvPr id="31" name="Shape 29"/>
          <p:cNvSpPr/>
          <p:nvPr/>
        </p:nvSpPr>
        <p:spPr>
          <a:xfrm>
            <a:off x="6140196" y="3826764"/>
            <a:ext cx="5454396" cy="1341882"/>
          </a:xfrm>
          <a:prstGeom prst="rect">
            <a:avLst/>
          </a:prstGeom>
          <a:solidFill>
            <a:srgbClr val="FFFFFF"/>
          </a:solidFill>
          <a:ln w="12700">
            <a:solidFill>
              <a:srgbClr val="CADCFC"/>
            </a:solidFill>
            <a:prstDash val="solid"/>
          </a:ln>
        </p:spPr>
      </p:sp>
      <p:sp>
        <p:nvSpPr>
          <p:cNvPr id="32" name="Shape 30"/>
          <p:cNvSpPr/>
          <p:nvPr/>
        </p:nvSpPr>
        <p:spPr>
          <a:xfrm>
            <a:off x="6249924" y="4296537"/>
            <a:ext cx="402336" cy="402336"/>
          </a:xfrm>
          <a:prstGeom prst="ellipse">
            <a:avLst/>
          </a:prstGeom>
          <a:solidFill>
            <a:srgbClr val="4A90D9"/>
          </a:solidFill>
          <a:ln w="12700">
            <a:solidFill>
              <a:srgbClr val="4A90D9"/>
            </a:solidFill>
            <a:prstDash val="solid"/>
          </a:ln>
        </p:spPr>
      </p:sp>
      <p:sp>
        <p:nvSpPr>
          <p:cNvPr id="33" name="Text 31"/>
          <p:cNvSpPr/>
          <p:nvPr/>
        </p:nvSpPr>
        <p:spPr>
          <a:xfrm>
            <a:off x="6249924" y="429653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6734556" y="3899916"/>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Save Another</a:t>
            </a:r>
            <a:endParaRPr lang="en-US" sz="1300" dirty="0"/>
          </a:p>
        </p:txBody>
      </p:sp>
      <p:sp>
        <p:nvSpPr>
          <p:cNvPr id="35" name="Text 33"/>
          <p:cNvSpPr/>
          <p:nvPr/>
        </p:nvSpPr>
        <p:spPr>
          <a:xfrm>
            <a:off x="6734556" y="4174236"/>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Back to Search → save a second paper</a:t>
            </a:r>
            <a:endParaRPr lang="en-US" sz="1250" dirty="0"/>
          </a:p>
        </p:txBody>
      </p:sp>
      <p:sp>
        <p:nvSpPr>
          <p:cNvPr id="36" name="Shape 34"/>
          <p:cNvSpPr/>
          <p:nvPr/>
        </p:nvSpPr>
        <p:spPr>
          <a:xfrm>
            <a:off x="411480" y="5260086"/>
            <a:ext cx="5454396" cy="1341882"/>
          </a:xfrm>
          <a:prstGeom prst="rect">
            <a:avLst/>
          </a:prstGeom>
          <a:solidFill>
            <a:srgbClr val="FFFFFF"/>
          </a:solidFill>
          <a:ln w="12700">
            <a:solidFill>
              <a:srgbClr val="CADCFC"/>
            </a:solidFill>
            <a:prstDash val="solid"/>
          </a:ln>
        </p:spPr>
      </p:sp>
      <p:sp>
        <p:nvSpPr>
          <p:cNvPr id="37" name="Shape 35"/>
          <p:cNvSpPr/>
          <p:nvPr/>
        </p:nvSpPr>
        <p:spPr>
          <a:xfrm>
            <a:off x="521208" y="5729859"/>
            <a:ext cx="402336" cy="402336"/>
          </a:xfrm>
          <a:prstGeom prst="ellipse">
            <a:avLst/>
          </a:prstGeom>
          <a:solidFill>
            <a:srgbClr val="4A90D9"/>
          </a:solidFill>
          <a:ln w="12700">
            <a:solidFill>
              <a:srgbClr val="4A90D9"/>
            </a:solidFill>
            <a:prstDash val="solid"/>
          </a:ln>
        </p:spPr>
      </p:sp>
      <p:sp>
        <p:nvSpPr>
          <p:cNvPr id="38" name="Text 36"/>
          <p:cNvSpPr/>
          <p:nvPr/>
        </p:nvSpPr>
        <p:spPr>
          <a:xfrm>
            <a:off x="521208" y="572985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9" name="Text 37"/>
          <p:cNvSpPr/>
          <p:nvPr/>
        </p:nvSpPr>
        <p:spPr>
          <a:xfrm>
            <a:off x="1005840" y="5333238"/>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Export</a:t>
            </a:r>
            <a:endParaRPr lang="en-US" sz="1300" dirty="0"/>
          </a:p>
        </p:txBody>
      </p:sp>
      <p:sp>
        <p:nvSpPr>
          <p:cNvPr id="40" name="Text 38"/>
          <p:cNvSpPr/>
          <p:nvPr/>
        </p:nvSpPr>
        <p:spPr>
          <a:xfrm>
            <a:off x="1005840" y="5607558"/>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Tap "Export BibTeX" FAB in Collection Detail</a:t>
            </a:r>
            <a:endParaRPr lang="en-US" sz="1250" dirty="0"/>
          </a:p>
        </p:txBody>
      </p:sp>
      <p:sp>
        <p:nvSpPr>
          <p:cNvPr id="41" name="Shape 39"/>
          <p:cNvSpPr/>
          <p:nvPr/>
        </p:nvSpPr>
        <p:spPr>
          <a:xfrm>
            <a:off x="6140196" y="5260086"/>
            <a:ext cx="5454396" cy="1341882"/>
          </a:xfrm>
          <a:prstGeom prst="rect">
            <a:avLst/>
          </a:prstGeom>
          <a:solidFill>
            <a:srgbClr val="FFFFFF"/>
          </a:solidFill>
          <a:ln w="12700">
            <a:solidFill>
              <a:srgbClr val="CADCFC"/>
            </a:solidFill>
            <a:prstDash val="solid"/>
          </a:ln>
        </p:spPr>
      </p:sp>
      <p:sp>
        <p:nvSpPr>
          <p:cNvPr id="42" name="Shape 40"/>
          <p:cNvSpPr/>
          <p:nvPr/>
        </p:nvSpPr>
        <p:spPr>
          <a:xfrm>
            <a:off x="6249924" y="5729859"/>
            <a:ext cx="402336" cy="402336"/>
          </a:xfrm>
          <a:prstGeom prst="ellipse">
            <a:avLst/>
          </a:prstGeom>
          <a:solidFill>
            <a:srgbClr val="4A90D9"/>
          </a:solidFill>
          <a:ln w="12700">
            <a:solidFill>
              <a:srgbClr val="4A90D9"/>
            </a:solidFill>
            <a:prstDash val="solid"/>
          </a:ln>
        </p:spPr>
      </p:sp>
      <p:sp>
        <p:nvSpPr>
          <p:cNvPr id="43" name="Text 41"/>
          <p:cNvSpPr/>
          <p:nvPr/>
        </p:nvSpPr>
        <p:spPr>
          <a:xfrm>
            <a:off x="6249924" y="572985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4" name="Text 42"/>
          <p:cNvSpPr/>
          <p:nvPr/>
        </p:nvSpPr>
        <p:spPr>
          <a:xfrm>
            <a:off x="6734556" y="5333238"/>
            <a:ext cx="4741164" cy="320040"/>
          </a:xfrm>
          <a:prstGeom prst="rect">
            <a:avLst/>
          </a:prstGeom>
          <a:noFill/>
          <a:ln/>
        </p:spPr>
        <p:txBody>
          <a:bodyPr wrap="square" rtlCol="0" anchor="ctr"/>
          <a:lstStyle/>
          <a:p>
            <a:pPr indent="0" marL="0">
              <a:buNone/>
            </a:pPr>
            <a:r>
              <a:rPr lang="en-US" sz="1300" b="1" dirty="0">
                <a:solidFill>
                  <a:srgbClr val="1A2B5C"/>
                </a:solidFill>
                <a:latin typeface="Calibri" pitchFamily="34" charset="0"/>
                <a:ea typeface="Calibri" pitchFamily="34" charset="-122"/>
                <a:cs typeface="Calibri" pitchFamily="34" charset="-120"/>
              </a:rPr>
              <a:t>Share</a:t>
            </a:r>
            <a:endParaRPr lang="en-US" sz="1300" dirty="0"/>
          </a:p>
        </p:txBody>
      </p:sp>
      <p:sp>
        <p:nvSpPr>
          <p:cNvPr id="45" name="Text 43"/>
          <p:cNvSpPr/>
          <p:nvPr/>
        </p:nvSpPr>
        <p:spPr>
          <a:xfrm>
            <a:off x="6734556" y="5607558"/>
            <a:ext cx="4741164" cy="902970"/>
          </a:xfrm>
          <a:prstGeom prst="rect">
            <a:avLst/>
          </a:prstGeom>
          <a:noFill/>
          <a:ln/>
        </p:spPr>
        <p:txBody>
          <a:bodyPr wrap="square" rtlCol="0" anchor="t"/>
          <a:lstStyle/>
          <a:p>
            <a:pPr indent="0" marL="0">
              <a:buNone/>
            </a:pPr>
            <a:r>
              <a:rPr lang="en-US" sz="1250" dirty="0">
                <a:solidFill>
                  <a:srgbClr val="1A1A2E"/>
                </a:solidFill>
                <a:latin typeface="Calibri" pitchFamily="34" charset="0"/>
                <a:ea typeface="Calibri" pitchFamily="34" charset="-122"/>
                <a:cs typeface="Calibri" pitchFamily="34" charset="-120"/>
              </a:rPr>
              <a:t>Share sheet → show .bib file contents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Evaluation Plan: How We Test</a:t>
            </a:r>
            <a:endParaRPr lang="en-US" sz="2500" dirty="0"/>
          </a:p>
        </p:txBody>
      </p:sp>
      <p:sp>
        <p:nvSpPr>
          <p:cNvPr id="6" name="Shape 4"/>
          <p:cNvSpPr/>
          <p:nvPr/>
        </p:nvSpPr>
        <p:spPr>
          <a:xfrm>
            <a:off x="411480" y="960120"/>
            <a:ext cx="6217920" cy="2178649"/>
          </a:xfrm>
          <a:prstGeom prst="rect">
            <a:avLst/>
          </a:prstGeom>
          <a:solidFill>
            <a:srgbClr val="FFFFFF"/>
          </a:solidFill>
          <a:ln w="12700">
            <a:solidFill>
              <a:srgbClr val="4A90D9"/>
            </a:solidFill>
            <a:prstDash val="solid"/>
          </a:ln>
        </p:spPr>
      </p:sp>
      <p:sp>
        <p:nvSpPr>
          <p:cNvPr id="7" name="Text 5"/>
          <p:cNvSpPr/>
          <p:nvPr/>
        </p:nvSpPr>
        <p:spPr>
          <a:xfrm>
            <a:off x="594360" y="1069848"/>
            <a:ext cx="5852160" cy="384048"/>
          </a:xfrm>
          <a:prstGeom prst="rect">
            <a:avLst/>
          </a:prstGeom>
          <a:noFill/>
          <a:ln/>
        </p:spPr>
        <p:txBody>
          <a:bodyPr wrap="square" rtlCol="0" anchor="ctr"/>
          <a:lstStyle/>
          <a:p>
            <a:pPr indent="0" marL="0">
              <a:buNone/>
            </a:pPr>
            <a:r>
              <a:rPr lang="en-US" sz="1500" b="1" dirty="0">
                <a:solidFill>
                  <a:srgbClr val="1A2B5C"/>
                </a:solidFill>
                <a:latin typeface="Calibri" pitchFamily="34" charset="0"/>
                <a:ea typeface="Calibri" pitchFamily="34" charset="-122"/>
                <a:cs typeface="Calibri" pitchFamily="34" charset="-120"/>
              </a:rPr>
              <a:t>Manual Testing — 10-step demo flow</a:t>
            </a:r>
            <a:endParaRPr lang="en-US" sz="1500" dirty="0"/>
          </a:p>
        </p:txBody>
      </p:sp>
      <p:sp>
        <p:nvSpPr>
          <p:cNvPr id="8" name="Text 6"/>
          <p:cNvSpPr/>
          <p:nvPr/>
        </p:nvSpPr>
        <p:spPr>
          <a:xfrm>
            <a:off x="594360" y="1490472"/>
            <a:ext cx="5852160" cy="1556857"/>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Every feature tested end-to-end.</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Edge cases: empty search, duplicate save, empty collection export, collection delete with papers.</a:t>
            </a:r>
            <a:endParaRPr lang="en-US" sz="1300" dirty="0"/>
          </a:p>
        </p:txBody>
      </p:sp>
      <p:sp>
        <p:nvSpPr>
          <p:cNvPr id="9" name="Shape 7"/>
          <p:cNvSpPr/>
          <p:nvPr/>
        </p:nvSpPr>
        <p:spPr>
          <a:xfrm>
            <a:off x="411480" y="3303361"/>
            <a:ext cx="6217920" cy="2178649"/>
          </a:xfrm>
          <a:prstGeom prst="rect">
            <a:avLst/>
          </a:prstGeom>
          <a:solidFill>
            <a:srgbClr val="FFFFFF"/>
          </a:solidFill>
          <a:ln w="12700">
            <a:solidFill>
              <a:srgbClr val="CADCFC"/>
            </a:solidFill>
            <a:prstDash val="solid"/>
          </a:ln>
        </p:spPr>
      </p:sp>
      <p:sp>
        <p:nvSpPr>
          <p:cNvPr id="10" name="Text 8"/>
          <p:cNvSpPr/>
          <p:nvPr/>
        </p:nvSpPr>
        <p:spPr>
          <a:xfrm>
            <a:off x="594360" y="3413089"/>
            <a:ext cx="5852160" cy="384048"/>
          </a:xfrm>
          <a:prstGeom prst="rect">
            <a:avLst/>
          </a:prstGeom>
          <a:noFill/>
          <a:ln/>
        </p:spPr>
        <p:txBody>
          <a:bodyPr wrap="square" rtlCol="0" anchor="ctr"/>
          <a:lstStyle/>
          <a:p>
            <a:pPr indent="0" marL="0">
              <a:buNone/>
            </a:pPr>
            <a:r>
              <a:rPr lang="en-US" sz="1500" b="1" dirty="0">
                <a:solidFill>
                  <a:srgbClr val="1A2B5C"/>
                </a:solidFill>
                <a:latin typeface="Calibri" pitchFamily="34" charset="0"/>
                <a:ea typeface="Calibri" pitchFamily="34" charset="-122"/>
                <a:cs typeface="Calibri" pitchFamily="34" charset="-120"/>
              </a:rPr>
              <a:t>Pure Functions — Ready for JUnit</a:t>
            </a:r>
            <a:endParaRPr lang="en-US" sz="1500" dirty="0"/>
          </a:p>
        </p:txBody>
      </p:sp>
      <p:sp>
        <p:nvSpPr>
          <p:cNvPr id="11" name="Text 9"/>
          <p:cNvSpPr/>
          <p:nvPr/>
        </p:nvSpPr>
        <p:spPr>
          <a:xfrm>
            <a:off x="594360" y="3833713"/>
            <a:ext cx="5852160" cy="1556857"/>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ArxivXmlParser.parse(xml) — no Android needed</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BibTexExporter.collectionToBibTex(papers)</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FpUtils.topNBy / frequencyMap / splitBy</a:t>
            </a:r>
            <a:endParaRPr lang="en-US" sz="1300" dirty="0"/>
          </a:p>
        </p:txBody>
      </p:sp>
      <p:sp>
        <p:nvSpPr>
          <p:cNvPr id="12" name="Shape 10"/>
          <p:cNvSpPr/>
          <p:nvPr/>
        </p:nvSpPr>
        <p:spPr>
          <a:xfrm>
            <a:off x="6949440" y="960120"/>
            <a:ext cx="4919472" cy="5733288"/>
          </a:xfrm>
          <a:prstGeom prst="rect">
            <a:avLst/>
          </a:prstGeom>
          <a:solidFill>
            <a:srgbClr val="1E2D40"/>
          </a:solidFill>
          <a:ln w="12700">
            <a:solidFill>
              <a:srgbClr val="2E4060"/>
            </a:solidFill>
            <a:prstDash val="solid"/>
          </a:ln>
        </p:spPr>
      </p:sp>
      <p:sp>
        <p:nvSpPr>
          <p:cNvPr id="13" name="Shape 11"/>
          <p:cNvSpPr/>
          <p:nvPr/>
        </p:nvSpPr>
        <p:spPr>
          <a:xfrm>
            <a:off x="7068312" y="1060704"/>
            <a:ext cx="128016" cy="128016"/>
          </a:xfrm>
          <a:prstGeom prst="ellipse">
            <a:avLst/>
          </a:prstGeom>
          <a:solidFill>
            <a:srgbClr val="E74C3C"/>
          </a:solidFill>
          <a:ln w="12700">
            <a:solidFill>
              <a:srgbClr val="E74C3C"/>
            </a:solidFill>
            <a:prstDash val="solid"/>
          </a:ln>
        </p:spPr>
      </p:sp>
      <p:sp>
        <p:nvSpPr>
          <p:cNvPr id="14" name="Shape 12"/>
          <p:cNvSpPr/>
          <p:nvPr/>
        </p:nvSpPr>
        <p:spPr>
          <a:xfrm>
            <a:off x="7269480" y="1060704"/>
            <a:ext cx="128016" cy="128016"/>
          </a:xfrm>
          <a:prstGeom prst="ellipse">
            <a:avLst/>
          </a:prstGeom>
          <a:solidFill>
            <a:srgbClr val="F39C12"/>
          </a:solidFill>
          <a:ln w="12700">
            <a:solidFill>
              <a:srgbClr val="F39C12"/>
            </a:solidFill>
            <a:prstDash val="solid"/>
          </a:ln>
        </p:spPr>
      </p:sp>
      <p:sp>
        <p:nvSpPr>
          <p:cNvPr id="15" name="Shape 13"/>
          <p:cNvSpPr/>
          <p:nvPr/>
        </p:nvSpPr>
        <p:spPr>
          <a:xfrm>
            <a:off x="7470648" y="1060704"/>
            <a:ext cx="128016" cy="128016"/>
          </a:xfrm>
          <a:prstGeom prst="ellipse">
            <a:avLst/>
          </a:prstGeom>
          <a:solidFill>
            <a:srgbClr val="2ECC71"/>
          </a:solidFill>
          <a:ln w="12700">
            <a:solidFill>
              <a:srgbClr val="2ECC71"/>
            </a:solidFill>
            <a:prstDash val="solid"/>
          </a:ln>
        </p:spPr>
      </p:sp>
      <p:sp>
        <p:nvSpPr>
          <p:cNvPr id="16" name="Text 14"/>
          <p:cNvSpPr/>
          <p:nvPr/>
        </p:nvSpPr>
        <p:spPr>
          <a:xfrm>
            <a:off x="7086600" y="1261872"/>
            <a:ext cx="4663440" cy="5349240"/>
          </a:xfrm>
          <a:prstGeom prst="rect">
            <a:avLst/>
          </a:prstGeom>
          <a:noFill/>
          <a:ln/>
        </p:spPr>
        <p:txBody>
          <a:bodyPr wrap="square" rtlCol="0" anchor="t"/>
          <a:lstStyle/>
          <a:p>
            <a:pPr indent="0" marL="0">
              <a:buNone/>
            </a:pPr>
            <a:r>
              <a:rPr lang="en-US" sz="1100" dirty="0">
                <a:solidFill>
                  <a:srgbClr val="D4E6FF"/>
                </a:solidFill>
                <a:latin typeface="Courier New" pitchFamily="34" charset="0"/>
                <a:ea typeface="Courier New" pitchFamily="34" charset="-122"/>
                <a:cs typeface="Courier New" pitchFamily="34" charset="-120"/>
              </a:rPr>
              <a:t>// Example test — ready to add:</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@Test fun `BibTeX cite key dedup adds suffix letters`() {</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val papers = listOf(</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paper("vaswani2017"),</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paper("vaswani2017")</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val bib = BibTexExporter.collectionToBibTex(papers)</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assertTrue(bib.contains("@misc{vaswani2017a,"))</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assertTrue(bib.contains("@misc{vaswani2017b,"))</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No Android emulator required.</a:t>
            </a:r>
            <a:endParaRPr lang="en-US" sz="1100" dirty="0"/>
          </a:p>
          <a:p>
            <a:pPr indent="0" marL="0">
              <a:buNone/>
            </a:pPr>
            <a:r>
              <a:rPr lang="en-US" sz="1100" dirty="0">
                <a:solidFill>
                  <a:srgbClr val="D4E6FF"/>
                </a:solidFill>
                <a:latin typeface="Courier New" pitchFamily="34" charset="0"/>
                <a:ea typeface="Courier New" pitchFamily="34" charset="-122"/>
                <a:cs typeface="Courier New" pitchFamily="34" charset="-120"/>
              </a:rPr>
              <a:t>// Pass plain Kotlin objects, assert the string.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FF4FC"/>
          </a:solidFill>
          <a:ln w="12700">
            <a:solidFill>
              <a:srgbClr val="EFF4FC"/>
            </a:solidFill>
            <a:prstDash val="solid"/>
          </a:ln>
        </p:spPr>
      </p:sp>
      <p:sp>
        <p:nvSpPr>
          <p:cNvPr id="3" name="Shape 1"/>
          <p:cNvSpPr/>
          <p:nvPr/>
        </p:nvSpPr>
        <p:spPr>
          <a:xfrm>
            <a:off x="0" y="0"/>
            <a:ext cx="12188952" cy="804672"/>
          </a:xfrm>
          <a:prstGeom prst="rect">
            <a:avLst/>
          </a:prstGeom>
          <a:solidFill>
            <a:srgbClr val="1A2B5C"/>
          </a:solidFill>
          <a:ln w="12700">
            <a:solidFill>
              <a:srgbClr val="1A2B5C"/>
            </a:solidFill>
            <a:prstDash val="solid"/>
          </a:ln>
        </p:spPr>
      </p:sp>
      <p:sp>
        <p:nvSpPr>
          <p:cNvPr id="4" name="Shape 2"/>
          <p:cNvSpPr/>
          <p:nvPr/>
        </p:nvSpPr>
        <p:spPr>
          <a:xfrm>
            <a:off x="0" y="804672"/>
            <a:ext cx="12188952" cy="45720"/>
          </a:xfrm>
          <a:prstGeom prst="rect">
            <a:avLst/>
          </a:prstGeom>
          <a:solidFill>
            <a:srgbClr val="4A90D9"/>
          </a:solidFill>
          <a:ln w="12700">
            <a:solidFill>
              <a:srgbClr val="4A90D9"/>
            </a:solidFill>
            <a:prstDash val="solid"/>
          </a:ln>
        </p:spPr>
      </p:sp>
      <p:sp>
        <p:nvSpPr>
          <p:cNvPr id="5" name="Text 3"/>
          <p:cNvSpPr/>
          <p:nvPr/>
        </p:nvSpPr>
        <p:spPr>
          <a:xfrm>
            <a:off x="457200" y="0"/>
            <a:ext cx="11274552" cy="804672"/>
          </a:xfrm>
          <a:prstGeom prst="rect">
            <a:avLst/>
          </a:prstGeom>
          <a:noFill/>
          <a:ln/>
        </p:spPr>
        <p:txBody>
          <a:bodyPr wrap="square"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What We Would Improve With More Time</a:t>
            </a:r>
            <a:endParaRPr lang="en-US" sz="2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11365992" cy="5733288"/>
        </p:xfrm>
        <a:graphic>
          <a:graphicData uri="http://schemas.openxmlformats.org/drawingml/2006/table">
            <a:tbl>
              <a:tblPr/>
              <a:tblGrid>
                <a:gridCol w="1645920"/>
                <a:gridCol w="9509760"/>
              </a:tblGrid>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Priority</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A2B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Improvement</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A2B5C"/>
                    </a:solidFill>
                  </a:tcPr>
                </a:tc>
              </a:tr>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B71C1C"/>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Add unit tests for ArxivXmlParser and BibTexExporter</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B71C1C"/>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Advanced search filters — author (au:), category (cat:), date range</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65100"/>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Offline abstract caching — save full abstract text in Room</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65100"/>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Reading status per paper (unread / reading / done)</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65100"/>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Firebase Firestore sync for cross-device collections</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2E7D32"/>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Collection-level search and sorting</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6217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2E7D32"/>
                    </a:solidFill>
                  </a:tcPr>
                </a:tc>
                <a:tc>
                  <a:txBody>
                    <a:bodyPr/>
                    <a:lstStyle/>
                    <a:p>
                      <a:pPr algn="l" indent="0" marL="0">
                        <a:buNone/>
                      </a:pPr>
                      <a:r>
                        <a:rPr lang="en-US" sz="1400" dirty="0">
                          <a:solidFill>
                            <a:srgbClr val="1A1A2E"/>
                          </a:solidFill>
                          <a:latin typeface="Calibri" pitchFamily="34" charset="0"/>
                          <a:ea typeface="Calibri" pitchFamily="34" charset="-122"/>
                          <a:cs typeface="Calibri" pitchFamily="34" charset="-120"/>
                        </a:rPr>
                        <a:t>Personal notes per saved paper</a:t>
                      </a:r>
                      <a:endParaRPr lang="en-US" sz="14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w="12700">
            <a:solidFill>
              <a:srgbClr val="0D1B3E"/>
            </a:solidFill>
            <a:prstDash val="solid"/>
          </a:ln>
        </p:spPr>
      </p:sp>
      <p:sp>
        <p:nvSpPr>
          <p:cNvPr id="3" name="Shape 1"/>
          <p:cNvSpPr/>
          <p:nvPr/>
        </p:nvSpPr>
        <p:spPr>
          <a:xfrm>
            <a:off x="0" y="0"/>
            <a:ext cx="12188952" cy="91440"/>
          </a:xfrm>
          <a:prstGeom prst="rect">
            <a:avLst/>
          </a:prstGeom>
          <a:solidFill>
            <a:srgbClr val="4A90D9"/>
          </a:solidFill>
          <a:ln w="12700">
            <a:solidFill>
              <a:srgbClr val="4A90D9"/>
            </a:solidFill>
            <a:prstDash val="solid"/>
          </a:ln>
        </p:spPr>
      </p:sp>
      <p:sp>
        <p:nvSpPr>
          <p:cNvPr id="4" name="Shape 2"/>
          <p:cNvSpPr/>
          <p:nvPr/>
        </p:nvSpPr>
        <p:spPr>
          <a:xfrm>
            <a:off x="0" y="6766560"/>
            <a:ext cx="12188952" cy="91440"/>
          </a:xfrm>
          <a:prstGeom prst="rect">
            <a:avLst/>
          </a:prstGeom>
          <a:solidFill>
            <a:srgbClr val="4A90D9"/>
          </a:solidFill>
          <a:ln w="12700">
            <a:solidFill>
              <a:srgbClr val="4A90D9"/>
            </a:solidFill>
            <a:prstDash val="solid"/>
          </a:ln>
        </p:spPr>
      </p:sp>
      <p:sp>
        <p:nvSpPr>
          <p:cNvPr id="5" name="Text 3"/>
          <p:cNvSpPr/>
          <p:nvPr/>
        </p:nvSpPr>
        <p:spPr>
          <a:xfrm>
            <a:off x="0" y="182880"/>
            <a:ext cx="12188952" cy="68580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Summary</a:t>
            </a:r>
            <a:endParaRPr lang="en-US" sz="3400" dirty="0"/>
          </a:p>
        </p:txBody>
      </p:sp>
      <p:sp>
        <p:nvSpPr>
          <p:cNvPr id="6" name="Shape 4"/>
          <p:cNvSpPr/>
          <p:nvPr/>
        </p:nvSpPr>
        <p:spPr>
          <a:xfrm>
            <a:off x="3808476" y="896112"/>
            <a:ext cx="4572000" cy="54864"/>
          </a:xfrm>
          <a:prstGeom prst="rect">
            <a:avLst/>
          </a:prstGeom>
          <a:solidFill>
            <a:srgbClr val="4A90D9"/>
          </a:solidFill>
          <a:ln w="12700">
            <a:solidFill>
              <a:srgbClr val="4A90D9"/>
            </a:solidFill>
            <a:prstDash val="solid"/>
          </a:ln>
        </p:spPr>
      </p:sp>
      <p:sp>
        <p:nvSpPr>
          <p:cNvPr id="7" name="Text 5"/>
          <p:cNvSpPr/>
          <p:nvPr/>
        </p:nvSpPr>
        <p:spPr>
          <a:xfrm>
            <a:off x="1097280" y="1051560"/>
            <a:ext cx="9994392" cy="4389120"/>
          </a:xfrm>
          <a:prstGeom prst="rect">
            <a:avLst/>
          </a:prstGeom>
          <a:noFill/>
          <a:ln/>
        </p:spPr>
        <p:txBody>
          <a:bodyPr wrap="square" rtlCol="0" anchor="ctr"/>
          <a:lstStyle/>
          <a:p>
            <a:pPr algn="l" indent="0" marL="0">
              <a:lnSpc>
                <a:spcPct val="140000"/>
              </a:lnSpc>
              <a:buNone/>
            </a:pPr>
            <a:r>
              <a:rPr lang="en-US" sz="1800" dirty="0">
                <a:solidFill>
                  <a:srgbClr val="CADCFC"/>
                </a:solidFill>
                <a:latin typeface="Calibri" pitchFamily="34" charset="0"/>
                <a:ea typeface="Calibri" pitchFamily="34" charset="-122"/>
                <a:cs typeface="Calibri" pitchFamily="34" charset="-120"/>
              </a:rPr>
              <a:t>ArxivLens is a native Android app built with Jetpack Compose, Room, and Kotlin coroutines that lets students and researchers search arXiv, save papers into named offline collections, and export BibTeX citations for direct use in LaTeX tools. The architecture follows MVVM with a clear data → repository → viewmodel → UI flow. Functional programming is applied throughout: immutable Paper value types flow from a pure XML parser through reactive StateFlow-backed UI state, and a pure BibTeX export pipeline — using splitBy, frequencyMap, zip, map, and joinToString — converts saved papers into a shareable .bib file without a single Android API call.</a:t>
            </a:r>
            <a:endParaRPr lang="en-US" sz="1800" dirty="0"/>
          </a:p>
        </p:txBody>
      </p:sp>
      <p:sp>
        <p:nvSpPr>
          <p:cNvPr id="8" name="Shape 6"/>
          <p:cNvSpPr/>
          <p:nvPr/>
        </p:nvSpPr>
        <p:spPr>
          <a:xfrm>
            <a:off x="1097280" y="5577840"/>
            <a:ext cx="9994392" cy="36576"/>
          </a:xfrm>
          <a:prstGeom prst="rect">
            <a:avLst/>
          </a:prstGeom>
          <a:solidFill>
            <a:srgbClr val="4A90D9"/>
          </a:solidFill>
          <a:ln w="12700">
            <a:solidFill>
              <a:srgbClr val="4A90D9"/>
            </a:solidFill>
            <a:prstDash val="solid"/>
          </a:ln>
        </p:spPr>
      </p:sp>
      <p:sp>
        <p:nvSpPr>
          <p:cNvPr id="9" name="Text 7"/>
          <p:cNvSpPr/>
          <p:nvPr/>
        </p:nvSpPr>
        <p:spPr>
          <a:xfrm>
            <a:off x="0" y="5687568"/>
            <a:ext cx="12188952" cy="320040"/>
          </a:xfrm>
          <a:prstGeom prst="rect">
            <a:avLst/>
          </a:prstGeom>
          <a:noFill/>
          <a:ln/>
        </p:spPr>
        <p:txBody>
          <a:bodyPr wrap="square" rtlCol="0" anchor="ctr"/>
          <a:lstStyle/>
          <a:p>
            <a:pPr algn="ctr" indent="0" marL="0">
              <a:buNone/>
            </a:pPr>
            <a:r>
              <a:rPr lang="en-US" sz="1300" dirty="0">
                <a:solidFill>
                  <a:srgbClr val="5A6A8A"/>
                </a:solidFill>
                <a:latin typeface="Calibri" pitchFamily="34" charset="0"/>
                <a:ea typeface="Calibri" pitchFamily="34" charset="-122"/>
                <a:cs typeface="Calibri" pitchFamily="34" charset="-120"/>
              </a:rPr>
              <a:t>CS5035 Final Project  ·  Pavan Chauhan  ·  Spring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2026-05-11T04:07:42Z</dcterms:created>
  <dcterms:modified xsi:type="dcterms:W3CDTF">2026-05-11T04:07:42Z</dcterms:modified>
</cp:coreProperties>
</file>